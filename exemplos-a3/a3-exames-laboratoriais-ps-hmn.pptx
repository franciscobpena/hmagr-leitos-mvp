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6"/>
  </p:notesMasterIdLst>
  <p:sldIdLst>
    <p:sldId id="256" r:id="rId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4" roundtripDataSignature="AMtx7miKB8Aqhq9MnQr1/sxEuptLLUTG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AC93C2-5AD8-91F3-1474-1F016BE1047E}" v="247" dt="2025-08-05T18:25:07.895"/>
    <p1510:client id="{8E616D2D-2771-9388-ED26-8E12F953710D}" v="15" dt="2025-08-07T18:07:07.5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14" Type="http://customschemas.google.com/relationships/presentationmetadata" Target="meta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isco Bahia Pena" userId="S::bp568132@bp.org.br::198d35c1-0130-4be8-9608-bf2dde6990a7" providerId="AD" clId="Web-{1BAC93C2-5AD8-91F3-1474-1F016BE1047E}"/>
    <pc:docChg chg="modSld">
      <pc:chgData name="Francisco Bahia Pena" userId="S::bp568132@bp.org.br::198d35c1-0130-4be8-9608-bf2dde6990a7" providerId="AD" clId="Web-{1BAC93C2-5AD8-91F3-1474-1F016BE1047E}" dt="2025-08-05T18:25:07.895" v="120" actId="20577"/>
      <pc:docMkLst>
        <pc:docMk/>
      </pc:docMkLst>
      <pc:sldChg chg="modSp">
        <pc:chgData name="Francisco Bahia Pena" userId="S::bp568132@bp.org.br::198d35c1-0130-4be8-9608-bf2dde6990a7" providerId="AD" clId="Web-{1BAC93C2-5AD8-91F3-1474-1F016BE1047E}" dt="2025-08-05T18:25:07.895" v="120" actId="20577"/>
        <pc:sldMkLst>
          <pc:docMk/>
          <pc:sldMk cId="0" sldId="256"/>
        </pc:sldMkLst>
        <pc:spChg chg="mod">
          <ac:chgData name="Francisco Bahia Pena" userId="S::bp568132@bp.org.br::198d35c1-0130-4be8-9608-bf2dde6990a7" providerId="AD" clId="Web-{1BAC93C2-5AD8-91F3-1474-1F016BE1047E}" dt="2025-08-05T18:25:07.895" v="120" actId="20577"/>
          <ac:spMkLst>
            <pc:docMk/>
            <pc:sldMk cId="0" sldId="256"/>
            <ac:spMk id="6" creationId="{6177612F-B0B0-E605-D31C-1C8C1B5B7575}"/>
          </ac:spMkLst>
        </pc:spChg>
      </pc:sldChg>
    </pc:docChg>
  </pc:docChgLst>
  <pc:docChgLst>
    <pc:chgData name="Francisco Bahia Pena" userId="S::bp568132@bp.org.br::198d35c1-0130-4be8-9608-bf2dde6990a7" providerId="AD" clId="Web-{8E616D2D-2771-9388-ED26-8E12F953710D}"/>
    <pc:docChg chg="modSld">
      <pc:chgData name="Francisco Bahia Pena" userId="S::bp568132@bp.org.br::198d35c1-0130-4be8-9608-bf2dde6990a7" providerId="AD" clId="Web-{8E616D2D-2771-9388-ED26-8E12F953710D}" dt="2025-08-07T18:07:07.560" v="9" actId="14100"/>
      <pc:docMkLst>
        <pc:docMk/>
      </pc:docMkLst>
      <pc:sldChg chg="addSp modSp">
        <pc:chgData name="Francisco Bahia Pena" userId="S::bp568132@bp.org.br::198d35c1-0130-4be8-9608-bf2dde6990a7" providerId="AD" clId="Web-{8E616D2D-2771-9388-ED26-8E12F953710D}" dt="2025-08-07T18:07:07.560" v="9" actId="14100"/>
        <pc:sldMkLst>
          <pc:docMk/>
          <pc:sldMk cId="0" sldId="256"/>
        </pc:sldMkLst>
        <pc:spChg chg="mod">
          <ac:chgData name="Francisco Bahia Pena" userId="S::bp568132@bp.org.br::198d35c1-0130-4be8-9608-bf2dde6990a7" providerId="AD" clId="Web-{8E616D2D-2771-9388-ED26-8E12F953710D}" dt="2025-08-07T18:07:02.357" v="8" actId="20577"/>
          <ac:spMkLst>
            <pc:docMk/>
            <pc:sldMk cId="0" sldId="256"/>
            <ac:spMk id="6" creationId="{6177612F-B0B0-E605-D31C-1C8C1B5B7575}"/>
          </ac:spMkLst>
        </pc:spChg>
        <pc:spChg chg="mod">
          <ac:chgData name="Francisco Bahia Pena" userId="S::bp568132@bp.org.br::198d35c1-0130-4be8-9608-bf2dde6990a7" providerId="AD" clId="Web-{8E616D2D-2771-9388-ED26-8E12F953710D}" dt="2025-08-07T18:07:07.560" v="9" actId="14100"/>
          <ac:spMkLst>
            <pc:docMk/>
            <pc:sldMk cId="0" sldId="256"/>
            <ac:spMk id="58" creationId="{CD4BB142-384F-D013-6473-A91FE345C5B1}"/>
          </ac:spMkLst>
        </pc:spChg>
        <pc:picChg chg="add mod">
          <ac:chgData name="Francisco Bahia Pena" userId="S::bp568132@bp.org.br::198d35c1-0130-4be8-9608-bf2dde6990a7" providerId="AD" clId="Web-{8E616D2D-2771-9388-ED26-8E12F953710D}" dt="2025-08-07T18:06:52.326" v="5" actId="1076"/>
          <ac:picMkLst>
            <pc:docMk/>
            <pc:sldMk cId="0" sldId="256"/>
            <ac:picMk id="2" creationId="{3DC4D29D-9CEB-4E3A-9516-867A5F963F6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69515" y="905084"/>
            <a:ext cx="2848143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E6C"/>
              </a:buClr>
              <a:buSzPts val="900"/>
              <a:buFont typeface="Calibri"/>
              <a:buNone/>
            </a:pPr>
            <a:r>
              <a:rPr lang="pt-BR" sz="900" b="1" i="0" u="none" strike="noStrike" cap="none">
                <a:solidFill>
                  <a:srgbClr val="004E6C"/>
                </a:solidFill>
                <a:latin typeface="Calibri"/>
                <a:ea typeface="Calibri"/>
                <a:cs typeface="Calibri"/>
                <a:sym typeface="Calibri"/>
              </a:rPr>
              <a:t>Descrição do problema e Meta (Define)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153725" y="1145099"/>
            <a:ext cx="5905500" cy="1912206"/>
          </a:xfrm>
          <a:prstGeom prst="rect">
            <a:avLst/>
          </a:prstGeom>
          <a:noFill/>
          <a:ln w="28575" cap="flat" cmpd="sng">
            <a:solidFill>
              <a:srgbClr val="002060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153728" y="143473"/>
            <a:ext cx="5905507" cy="735047"/>
          </a:xfrm>
          <a:prstGeom prst="rect">
            <a:avLst/>
          </a:prstGeom>
          <a:noFill/>
          <a:ln w="28575" cap="flat" cmpd="sng">
            <a:solidFill>
              <a:srgbClr val="002060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rgbClr val="004E6C"/>
              </a:buClr>
              <a:buSzPts val="900"/>
            </a:pPr>
            <a:r>
              <a:rPr lang="pt-BR" sz="900" b="1" i="0" u="none" strike="noStrike" cap="none">
                <a:solidFill>
                  <a:srgbClr val="004E6C"/>
                </a:solidFill>
                <a:latin typeface="Calibri"/>
                <a:ea typeface="Calibri"/>
                <a:cs typeface="Calibri"/>
                <a:sym typeface="Calibri"/>
              </a:rPr>
              <a:t>Título: </a:t>
            </a:r>
            <a:r>
              <a:rPr lang="pt-BR" sz="900" b="1" i="0" u="none" strike="noStrike" cap="none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Redução do tempo de liberaç</a:t>
            </a:r>
            <a:r>
              <a:rPr lang="pt-BR" sz="900" b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ão dos exames laboratórios do PS</a:t>
            </a:r>
            <a:endParaRPr lang="pt-BR" sz="900" b="1" i="0" u="none" strike="noStrike" cap="none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Clr>
                <a:srgbClr val="004E6C"/>
              </a:buClr>
              <a:buSzPts val="900"/>
            </a:pPr>
            <a:endParaRPr lang="pt-BR" sz="900" b="1"/>
          </a:p>
          <a:p>
            <a:pPr lvl="0">
              <a:buClr>
                <a:srgbClr val="004E6C"/>
              </a:buClr>
              <a:buSzPts val="900"/>
            </a:pPr>
            <a:r>
              <a:rPr lang="pt-BR" sz="900" b="1" i="0" u="none" strike="noStrike" cap="none">
                <a:solidFill>
                  <a:srgbClr val="004E6C"/>
                </a:solidFill>
                <a:latin typeface="Calibri"/>
                <a:ea typeface="Calibri"/>
                <a:cs typeface="Calibri"/>
                <a:sym typeface="Calibri"/>
              </a:rPr>
              <a:t>Unidade/Área: </a:t>
            </a:r>
            <a:r>
              <a:rPr lang="pt-BR" sz="900" b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Pronto Socorro</a:t>
            </a:r>
            <a:br>
              <a:rPr lang="pt-BR" sz="900" b="1" i="0" u="none" strike="noStrike" cap="none">
                <a:solidFill>
                  <a:srgbClr val="004E6C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500" b="1" i="0" u="none" strike="noStrike" cap="none">
              <a:solidFill>
                <a:srgbClr val="004E6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rgbClr val="004E6C"/>
              </a:buClr>
              <a:buSzPts val="900"/>
            </a:pPr>
            <a:r>
              <a:rPr lang="pt-BR" sz="900" b="1" i="0" u="none" strike="noStrike" cap="none">
                <a:solidFill>
                  <a:srgbClr val="004E6C"/>
                </a:solidFill>
                <a:latin typeface="Calibri"/>
                <a:ea typeface="Calibri"/>
                <a:cs typeface="Calibri"/>
                <a:sym typeface="Calibri"/>
              </a:rPr>
              <a:t>Líder: </a:t>
            </a:r>
            <a:r>
              <a:rPr lang="pt-BR" sz="900" b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Ana Paula                </a:t>
            </a:r>
            <a:r>
              <a:rPr lang="pt-BR" sz="900" b="1">
                <a:solidFill>
                  <a:srgbClr val="004E6C"/>
                </a:solidFill>
                <a:latin typeface="Calibri"/>
                <a:cs typeface="Calibri"/>
                <a:sym typeface="Calibri"/>
              </a:rPr>
              <a:t>Co-Líd</a:t>
            </a:r>
            <a:r>
              <a:rPr lang="pt-BR" sz="900" b="1">
                <a:solidFill>
                  <a:srgbClr val="004E6C"/>
                </a:solidFill>
                <a:latin typeface="Calibri"/>
                <a:ea typeface="Calibri"/>
                <a:cs typeface="Calibri"/>
                <a:sym typeface="Calibri"/>
              </a:rPr>
              <a:t>er: </a:t>
            </a:r>
            <a:r>
              <a:rPr lang="pt-BR" sz="900" b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Jamile</a:t>
            </a:r>
            <a:endParaRPr lang="pt-BR" sz="900">
              <a:solidFill>
                <a:schemeClr val="tx1"/>
              </a:solidFill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E6C"/>
              </a:buClr>
              <a:buSzPts val="900"/>
              <a:buFont typeface="Calibri"/>
              <a:buNone/>
            </a:pPr>
            <a:endParaRPr sz="900">
              <a:solidFill>
                <a:schemeClr val="tx1"/>
              </a:solidFill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6165275" y="143473"/>
            <a:ext cx="4698680" cy="735047"/>
          </a:xfrm>
          <a:prstGeom prst="rect">
            <a:avLst/>
          </a:prstGeom>
          <a:noFill/>
          <a:ln w="28575" cap="flat" cmpd="sng">
            <a:solidFill>
              <a:srgbClr val="002060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E6C"/>
              </a:buClr>
              <a:buSzPts val="900"/>
              <a:buFont typeface="Calibri"/>
              <a:buNone/>
            </a:pPr>
            <a:r>
              <a:rPr lang="pt-BR" sz="900" b="1" i="0" u="none" strike="noStrike" cap="none">
                <a:solidFill>
                  <a:srgbClr val="004E6C"/>
                </a:solidFill>
                <a:latin typeface="Calibri"/>
                <a:ea typeface="Calibri"/>
                <a:cs typeface="Calibri"/>
                <a:sym typeface="Calibri"/>
              </a:rPr>
              <a:t>Time:</a:t>
            </a:r>
            <a:r>
              <a:rPr lang="pt-BR" sz="900" b="1">
                <a:solidFill>
                  <a:srgbClr val="004E6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900" b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Matheus, Leticia, Mariane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E6C"/>
              </a:buClr>
              <a:buSzPts val="900"/>
              <a:buFont typeface="Calibri"/>
              <a:buNone/>
            </a:pPr>
            <a:r>
              <a:rPr lang="pt-BR" sz="900" b="1">
                <a:solidFill>
                  <a:srgbClr val="004E6C"/>
                </a:solidFill>
                <a:latin typeface="Calibri"/>
                <a:cs typeface="Calibri"/>
                <a:sym typeface="Calibri"/>
              </a:rPr>
              <a:t>Padrinho e Madria</a:t>
            </a:r>
            <a:r>
              <a:rPr lang="pt-BR" sz="900" b="1">
                <a:solidFill>
                  <a:schemeClr val="tx1"/>
                </a:solidFill>
                <a:latin typeface="Calibri"/>
                <a:cs typeface="Calibri"/>
                <a:sym typeface="Calibri"/>
              </a:rPr>
              <a:t>: Dr. José Roberto e Dra.Fabiane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E6C"/>
              </a:buClr>
              <a:buSzPts val="900"/>
              <a:buFont typeface="Calibri"/>
              <a:buNone/>
            </a:pPr>
            <a:r>
              <a:rPr lang="pt-BR" sz="900" b="1" i="0" u="none" strike="noStrike" cap="none">
                <a:solidFill>
                  <a:srgbClr val="004E6C"/>
                </a:solidFill>
                <a:latin typeface="Calibri"/>
                <a:ea typeface="Calibri"/>
                <a:cs typeface="Calibri"/>
                <a:sym typeface="Calibri"/>
              </a:rPr>
              <a:t>Data de Início: </a:t>
            </a:r>
            <a:r>
              <a:rPr lang="pt-BR" sz="900" b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r>
              <a:rPr lang="pt-BR" sz="900" b="1" i="0" u="none" strike="noStrike" cap="none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/05/2025</a:t>
            </a:r>
            <a:endParaRPr sz="1400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rgbClr val="004E6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rgbClr val="004E6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69515" y="3314701"/>
            <a:ext cx="17700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E6C"/>
              </a:buClr>
              <a:buSzPts val="900"/>
              <a:buFont typeface="Calibri"/>
              <a:buNone/>
            </a:pPr>
            <a:r>
              <a:rPr lang="pt-BR" sz="900" b="1" i="0" u="none" strike="noStrike" cap="none">
                <a:solidFill>
                  <a:srgbClr val="004E6C"/>
                </a:solidFill>
                <a:latin typeface="Calibri"/>
                <a:ea typeface="Calibri"/>
                <a:cs typeface="Calibri"/>
                <a:sym typeface="Calibri"/>
              </a:rPr>
              <a:t>Estado Atual (Medição)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141025" y="3543299"/>
            <a:ext cx="5905500" cy="2753315"/>
          </a:xfrm>
          <a:prstGeom prst="rect">
            <a:avLst/>
          </a:prstGeom>
          <a:noFill/>
          <a:ln w="28575" cap="flat" cmpd="sng">
            <a:solidFill>
              <a:srgbClr val="002060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10970000" y="143475"/>
            <a:ext cx="1170000" cy="735000"/>
          </a:xfrm>
          <a:prstGeom prst="rect">
            <a:avLst/>
          </a:prstGeom>
          <a:noFill/>
          <a:ln w="28575" cap="flat" cmpd="sng">
            <a:solidFill>
              <a:srgbClr val="002060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E6C"/>
              </a:buClr>
              <a:buSzPts val="900"/>
              <a:buFont typeface="Calibri"/>
              <a:buNone/>
            </a:pPr>
            <a:r>
              <a:rPr lang="pt-BR" sz="900" b="1" i="0" u="none" strike="noStrike" cap="none">
                <a:solidFill>
                  <a:srgbClr val="004E6C"/>
                </a:solidFill>
                <a:latin typeface="Calibri"/>
                <a:ea typeface="Calibri"/>
                <a:cs typeface="Calibri"/>
                <a:sym typeface="Calibri"/>
              </a:rPr>
              <a:t>Última Atualização:</a:t>
            </a:r>
            <a:endParaRPr sz="900" b="1" i="0" u="none" strike="noStrike" cap="none">
              <a:solidFill>
                <a:srgbClr val="004E6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E6C"/>
              </a:buClr>
              <a:buSzPts val="900"/>
              <a:buFont typeface="Calibri"/>
              <a:buNone/>
            </a:pPr>
            <a:endParaRPr sz="900" b="1" i="0" u="none" strike="noStrike" cap="none">
              <a:solidFill>
                <a:srgbClr val="004E6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rgbClr val="004E6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rgbClr val="004E6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6234373" y="1145114"/>
            <a:ext cx="5905507" cy="1680506"/>
          </a:xfrm>
          <a:prstGeom prst="rect">
            <a:avLst/>
          </a:prstGeom>
          <a:noFill/>
          <a:ln w="28575" cap="flat" cmpd="sng">
            <a:solidFill>
              <a:srgbClr val="002060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6234375" y="3033712"/>
            <a:ext cx="5905500" cy="1575475"/>
          </a:xfrm>
          <a:prstGeom prst="rect">
            <a:avLst/>
          </a:prstGeom>
          <a:noFill/>
          <a:ln w="28575" cap="flat" cmpd="sng">
            <a:solidFill>
              <a:srgbClr val="002060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4E6C"/>
              </a:buClr>
              <a:buSzPts val="900"/>
            </a:pPr>
            <a:endParaRPr sz="900" b="0" i="0" u="none" strike="noStrike" cap="none">
              <a:solidFill>
                <a:srgbClr val="004E6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6234375" y="4833971"/>
            <a:ext cx="2905500" cy="1395704"/>
          </a:xfrm>
          <a:prstGeom prst="rect">
            <a:avLst/>
          </a:prstGeom>
          <a:noFill/>
          <a:ln w="28575" cap="flat" cmpd="sng">
            <a:solidFill>
              <a:srgbClr val="002060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9234500" y="4833970"/>
            <a:ext cx="2905500" cy="1395705"/>
          </a:xfrm>
          <a:prstGeom prst="rect">
            <a:avLst/>
          </a:prstGeom>
          <a:noFill/>
          <a:ln w="28575" cap="flat" cmpd="sng">
            <a:solidFill>
              <a:srgbClr val="002060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23F6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6148226" y="926439"/>
            <a:ext cx="2360818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E6C"/>
              </a:buClr>
              <a:buSzPts val="900"/>
              <a:buFont typeface="Calibri"/>
              <a:buNone/>
            </a:pPr>
            <a:r>
              <a:rPr lang="pt-BR" sz="900" b="1" i="0" u="none" strike="noStrike" cap="none">
                <a:solidFill>
                  <a:srgbClr val="004E6C"/>
                </a:solidFill>
                <a:latin typeface="Calibri"/>
                <a:ea typeface="Calibri"/>
                <a:cs typeface="Calibri"/>
                <a:sym typeface="Calibri"/>
              </a:rPr>
              <a:t>Análise das Causas (Análise)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6183573" y="2834656"/>
            <a:ext cx="2360818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E6C"/>
              </a:buClr>
              <a:buSzPts val="900"/>
              <a:buFont typeface="Calibri"/>
              <a:buNone/>
            </a:pPr>
            <a:r>
              <a:rPr lang="pt-BR" sz="900" b="1" i="0" u="none" strike="noStrike" cap="none">
                <a:solidFill>
                  <a:srgbClr val="004E6C"/>
                </a:solidFill>
                <a:latin typeface="Calibri"/>
                <a:ea typeface="Calibri"/>
                <a:cs typeface="Calibri"/>
                <a:sym typeface="Calibri"/>
              </a:rPr>
              <a:t>Plano de Ação (Melhorar)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6148125" y="4628040"/>
            <a:ext cx="2360818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E6C"/>
              </a:buClr>
              <a:buSzPts val="900"/>
              <a:buFont typeface="Calibri"/>
              <a:buNone/>
            </a:pPr>
            <a:r>
              <a:rPr lang="pt-BR" sz="900" b="1" i="0" u="none" strike="noStrike" cap="none">
                <a:solidFill>
                  <a:srgbClr val="004E6C"/>
                </a:solidFill>
                <a:latin typeface="Calibri"/>
                <a:ea typeface="Calibri"/>
                <a:cs typeface="Calibri"/>
                <a:sym typeface="Calibri"/>
              </a:rPr>
              <a:t>Resultados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9139875" y="4628104"/>
            <a:ext cx="2360818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E6C"/>
              </a:buClr>
              <a:buSzPts val="900"/>
              <a:buFont typeface="Calibri"/>
              <a:buNone/>
            </a:pPr>
            <a:r>
              <a:rPr lang="pt-BR" sz="900" b="1" i="0" u="none" strike="noStrike" cap="none">
                <a:solidFill>
                  <a:srgbClr val="004E6C"/>
                </a:solidFill>
                <a:latin typeface="Calibri"/>
                <a:ea typeface="Calibri"/>
                <a:cs typeface="Calibri"/>
                <a:sym typeface="Calibri"/>
              </a:rPr>
              <a:t>Métodos de Controle (Controle)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" name="Google Shape;99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3728" y="6317970"/>
            <a:ext cx="11799490" cy="37188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02D1F770-1E3B-80C1-A831-DD16E0AC3518}"/>
              </a:ext>
            </a:extLst>
          </p:cNvPr>
          <p:cNvSpPr txBox="1"/>
          <p:nvPr/>
        </p:nvSpPr>
        <p:spPr>
          <a:xfrm>
            <a:off x="11036670" y="398918"/>
            <a:ext cx="10682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>
                <a:solidFill>
                  <a:schemeClr val="tx1"/>
                </a:solidFill>
                <a:latin typeface="Calibri"/>
                <a:cs typeface="Calibri"/>
              </a:rPr>
              <a:t>31/07/2025</a:t>
            </a:r>
            <a:endParaRPr lang="pt-BR"/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CD4BB142-384F-D013-6473-A91FE345C5B1}"/>
              </a:ext>
            </a:extLst>
          </p:cNvPr>
          <p:cNvSpPr txBox="1"/>
          <p:nvPr/>
        </p:nvSpPr>
        <p:spPr>
          <a:xfrm>
            <a:off x="9187608" y="4857416"/>
            <a:ext cx="2859042" cy="658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900" err="1">
                <a:solidFill>
                  <a:schemeClr val="tx1"/>
                </a:solidFill>
                <a:latin typeface="Calibri"/>
                <a:cs typeface="Calibri"/>
              </a:rPr>
              <a:t>Rotina</a:t>
            </a:r>
            <a:r>
              <a:rPr lang="en-US" sz="90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900" err="1">
                <a:solidFill>
                  <a:schemeClr val="tx1"/>
                </a:solidFill>
                <a:latin typeface="Calibri"/>
                <a:cs typeface="Calibri"/>
              </a:rPr>
              <a:t>períodica</a:t>
            </a:r>
            <a:r>
              <a:rPr lang="en-US" sz="900">
                <a:solidFill>
                  <a:schemeClr val="tx1"/>
                </a:solidFill>
                <a:latin typeface="Calibri"/>
                <a:cs typeface="Calibri"/>
              </a:rPr>
              <a:t> (</a:t>
            </a:r>
            <a:r>
              <a:rPr lang="en-US" sz="900" err="1">
                <a:solidFill>
                  <a:schemeClr val="tx1"/>
                </a:solidFill>
                <a:latin typeface="Calibri"/>
                <a:cs typeface="Calibri"/>
              </a:rPr>
              <a:t>pelo</a:t>
            </a:r>
            <a:r>
              <a:rPr lang="en-US" sz="90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900" err="1">
                <a:solidFill>
                  <a:schemeClr val="tx1"/>
                </a:solidFill>
                <a:latin typeface="Calibri"/>
                <a:cs typeface="Calibri"/>
              </a:rPr>
              <a:t>menos</a:t>
            </a:r>
            <a:r>
              <a:rPr lang="en-US" sz="900">
                <a:solidFill>
                  <a:schemeClr val="tx1"/>
                </a:solidFill>
                <a:latin typeface="Calibri"/>
                <a:cs typeface="Calibri"/>
              </a:rPr>
              <a:t>) </a:t>
            </a:r>
            <a:r>
              <a:rPr lang="en-US" sz="900" err="1">
                <a:solidFill>
                  <a:schemeClr val="tx1"/>
                </a:solidFill>
                <a:latin typeface="Calibri"/>
                <a:cs typeface="Calibri"/>
              </a:rPr>
              <a:t>semanal</a:t>
            </a:r>
            <a:r>
              <a:rPr lang="en-US" sz="900">
                <a:solidFill>
                  <a:schemeClr val="tx1"/>
                </a:solidFill>
                <a:latin typeface="Calibri"/>
                <a:cs typeface="Calibri"/>
              </a:rPr>
              <a:t> de </a:t>
            </a:r>
            <a:r>
              <a:rPr lang="en-US" sz="900" err="1">
                <a:solidFill>
                  <a:schemeClr val="tx1"/>
                </a:solidFill>
                <a:latin typeface="Calibri"/>
                <a:cs typeface="Calibri"/>
              </a:rPr>
              <a:t>acompanhamento</a:t>
            </a:r>
            <a:r>
              <a:rPr lang="en-US" sz="900">
                <a:solidFill>
                  <a:schemeClr val="tx1"/>
                </a:solidFill>
                <a:latin typeface="Calibri"/>
                <a:cs typeface="Calibri"/>
              </a:rPr>
              <a:t> do tempo de </a:t>
            </a:r>
            <a:r>
              <a:rPr lang="en-US" sz="900" err="1">
                <a:solidFill>
                  <a:schemeClr val="tx1"/>
                </a:solidFill>
                <a:latin typeface="Calibri"/>
                <a:cs typeface="Calibri"/>
              </a:rPr>
              <a:t>liberação</a:t>
            </a:r>
            <a:r>
              <a:rPr lang="en-US" sz="900">
                <a:solidFill>
                  <a:schemeClr val="tx1"/>
                </a:solidFill>
                <a:latin typeface="Calibri"/>
                <a:cs typeface="Calibri"/>
              </a:rPr>
              <a:t> dos </a:t>
            </a:r>
            <a:r>
              <a:rPr lang="en-US" sz="900" err="1">
                <a:solidFill>
                  <a:schemeClr val="tx1"/>
                </a:solidFill>
                <a:latin typeface="Calibri"/>
                <a:cs typeface="Calibri"/>
              </a:rPr>
              <a:t>exames</a:t>
            </a:r>
            <a:r>
              <a:rPr lang="en-US" sz="900">
                <a:solidFill>
                  <a:schemeClr val="tx1"/>
                </a:solidFill>
                <a:latin typeface="Calibri"/>
                <a:cs typeface="Calibri"/>
              </a:rPr>
              <a:t> entre </a:t>
            </a:r>
            <a:r>
              <a:rPr lang="en-US" sz="900" err="1">
                <a:solidFill>
                  <a:schemeClr val="tx1"/>
                </a:solidFill>
                <a:latin typeface="Calibri"/>
                <a:cs typeface="Calibri"/>
              </a:rPr>
              <a:t>responsável</a:t>
            </a:r>
            <a:r>
              <a:rPr lang="en-US" sz="900">
                <a:solidFill>
                  <a:schemeClr val="tx1"/>
                </a:solidFill>
                <a:latin typeface="Calibri"/>
                <a:cs typeface="Calibri"/>
              </a:rPr>
              <a:t> do </a:t>
            </a:r>
            <a:r>
              <a:rPr lang="en-US" sz="900" err="1">
                <a:solidFill>
                  <a:schemeClr val="tx1"/>
                </a:solidFill>
                <a:latin typeface="Calibri"/>
                <a:cs typeface="Calibri"/>
              </a:rPr>
              <a:t>laboratório</a:t>
            </a:r>
            <a:r>
              <a:rPr lang="en-US" sz="900">
                <a:solidFill>
                  <a:schemeClr val="tx1"/>
                </a:solidFill>
                <a:latin typeface="Calibri"/>
                <a:cs typeface="Calibri"/>
              </a:rPr>
              <a:t> e </a:t>
            </a:r>
            <a:r>
              <a:rPr lang="en-US" sz="900" err="1">
                <a:solidFill>
                  <a:schemeClr val="tx1"/>
                </a:solidFill>
                <a:latin typeface="Calibri"/>
                <a:cs typeface="Calibri"/>
              </a:rPr>
              <a:t>liderança</a:t>
            </a:r>
            <a:r>
              <a:rPr lang="en-US" sz="900">
                <a:solidFill>
                  <a:schemeClr val="tx1"/>
                </a:solidFill>
                <a:latin typeface="Calibri"/>
                <a:cs typeface="Calibri"/>
              </a:rPr>
              <a:t> do Pronto </a:t>
            </a:r>
            <a:r>
              <a:rPr lang="en-US" sz="900" err="1">
                <a:solidFill>
                  <a:schemeClr val="tx1"/>
                </a:solidFill>
                <a:latin typeface="Calibri"/>
                <a:cs typeface="Calibri"/>
              </a:rPr>
              <a:t>socorro</a:t>
            </a:r>
            <a:r>
              <a:rPr lang="en-US" sz="900">
                <a:solidFill>
                  <a:schemeClr val="tx1"/>
                </a:solidFill>
                <a:latin typeface="Calibri"/>
                <a:cs typeface="Calibri"/>
              </a:rPr>
              <a:t> 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3560DE0-B793-379D-2374-5DB26435B8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238" y="3614871"/>
            <a:ext cx="5843063" cy="2640401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6177612F-B0B0-E605-D31C-1C8C1B5B7575}"/>
              </a:ext>
            </a:extLst>
          </p:cNvPr>
          <p:cNvSpPr txBox="1"/>
          <p:nvPr/>
        </p:nvSpPr>
        <p:spPr>
          <a:xfrm>
            <a:off x="125148" y="1144682"/>
            <a:ext cx="5905501" cy="189282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900" dirty="0">
                <a:latin typeface="Calibri"/>
                <a:cs typeface="Calibri"/>
              </a:rPr>
              <a:t>O laboratório clínico responsável pelos exames do Pronto-Socorro funciona fora das dependências do hospital, em uma unidade pertencente ao grupo Santa Casa de Itabuna. Constatou-se que não há rotina de acompanhamento nem indicadores gerenciais para monitorar o tempo de liberação dos resultados. Amostragens quantitativas apontam um tempo médio de cerca de cinco horas entre a solicitação e a liberação do exame—intervalo elevado que justifica a implementação de um projeto de melhoria (Kaizen) focado nesse processo.</a:t>
            </a:r>
          </a:p>
          <a:p>
            <a:endParaRPr lang="pt-BR" sz="9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sz="900" b="1" dirty="0">
                <a:latin typeface="Calibri"/>
                <a:cs typeface="Calibri"/>
              </a:rPr>
              <a:t>Meta/Objetivo: </a:t>
            </a:r>
          </a:p>
          <a:p>
            <a:r>
              <a:rPr lang="pt-BR" sz="900" b="1" dirty="0">
                <a:latin typeface="Calibri"/>
                <a:cs typeface="Calibri"/>
              </a:rPr>
              <a:t>Target: </a:t>
            </a:r>
            <a:r>
              <a:rPr lang="pt-BR" sz="900" dirty="0">
                <a:latin typeface="Calibri"/>
                <a:cs typeface="Calibri"/>
              </a:rPr>
              <a:t>Reduzir de 5 horas em média para 2 horas a liberação dos exames em até 11/09/2025 ou alternativamente, atender 70% em até 2 horas. </a:t>
            </a:r>
          </a:p>
          <a:p>
            <a:r>
              <a:rPr lang="pt-BR" sz="900" b="1" dirty="0">
                <a:latin typeface="Calibri"/>
                <a:cs typeface="Calibri"/>
              </a:rPr>
              <a:t>Limite inferior (LI):  </a:t>
            </a:r>
            <a:r>
              <a:rPr lang="pt-BR" sz="900" dirty="0">
                <a:latin typeface="Calibri"/>
                <a:cs typeface="Calibri"/>
              </a:rPr>
              <a:t>Reduzir de 5 horas em média para 2 horas  e 50 min a liberação dos exames em até 11/09/2025 ou alternativamente, atender 50% em até 2 horas. </a:t>
            </a:r>
          </a:p>
          <a:p>
            <a:r>
              <a:rPr lang="pt-BR" sz="900" b="1" dirty="0">
                <a:latin typeface="Calibri"/>
                <a:cs typeface="Calibri"/>
              </a:rPr>
              <a:t>Premissa: </a:t>
            </a:r>
            <a:r>
              <a:rPr lang="pt-BR" sz="900" dirty="0">
                <a:latin typeface="Calibri"/>
                <a:cs typeface="Calibri"/>
              </a:rPr>
              <a:t>Atender pelo menos uma das metas, tempo médio de liberação desconsiderando sumários de urina e cultura, e eventuais situações que configuram como </a:t>
            </a:r>
            <a:r>
              <a:rPr lang="pt-BR" sz="900" dirty="0" err="1">
                <a:latin typeface="Calibri"/>
                <a:cs typeface="Calibri"/>
              </a:rPr>
              <a:t>outiliers</a:t>
            </a:r>
            <a:r>
              <a:rPr lang="pt-BR" sz="900" dirty="0">
                <a:latin typeface="Calibri"/>
                <a:cs typeface="Calibri"/>
              </a:rPr>
              <a:t>/causas especiais. 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8656385-2616-B1D1-FC1B-1D65E0DAC2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3271" y="3044294"/>
            <a:ext cx="5827708" cy="1535713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12FC2EF5-225F-F25F-69C7-512EE670EC4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675"/>
          <a:stretch>
            <a:fillRect/>
          </a:stretch>
        </p:blipFill>
        <p:spPr>
          <a:xfrm>
            <a:off x="6921500" y="1159957"/>
            <a:ext cx="4400550" cy="1649299"/>
          </a:xfrm>
          <a:prstGeom prst="rect">
            <a:avLst/>
          </a:prstGeom>
        </p:spPr>
      </p:pic>
      <p:pic>
        <p:nvPicPr>
          <p:cNvPr id="2" name="Imagem 1" descr="Gráfico, Gráfico de barras, Histograma, Gráfico de cascata&#10;&#10;O conteúdo gerado por IA pode estar incorreto.">
            <a:extLst>
              <a:ext uri="{FF2B5EF4-FFF2-40B4-BE49-F238E27FC236}">
                <a16:creationId xmlns:a16="http://schemas.microsoft.com/office/drawing/2014/main" id="{3DC4D29D-9CEB-4E3A-9516-867A5F963F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9648" y="4852987"/>
            <a:ext cx="2911719" cy="132544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0779a59-d03b-483d-8d4c-44b877291655">
      <Terms xmlns="http://schemas.microsoft.com/office/infopath/2007/PartnerControls"/>
    </lcf76f155ced4ddcb4097134ff3c332f>
    <IDLista xmlns="c0779a59-d03b-483d-8d4c-44b877291655" xsi:nil="true"/>
    <TaxCatchAll xmlns="82eefd31-36ee-401e-8e9c-fd5b9f1891e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BDCD939CAA2F54B9B463B94E2308002" ma:contentTypeVersion="24" ma:contentTypeDescription="Crie um novo documento." ma:contentTypeScope="" ma:versionID="e9b309e4ae841c4a8580f1e99c677b05">
  <xsd:schema xmlns:xsd="http://www.w3.org/2001/XMLSchema" xmlns:xs="http://www.w3.org/2001/XMLSchema" xmlns:p="http://schemas.microsoft.com/office/2006/metadata/properties" xmlns:ns2="c0779a59-d03b-483d-8d4c-44b877291655" xmlns:ns3="82eefd31-36ee-401e-8e9c-fd5b9f1891ee" targetNamespace="http://schemas.microsoft.com/office/2006/metadata/properties" ma:root="true" ma:fieldsID="a78e624cae546f3ac3d56b836b47b527" ns2:_="" ns3:_="">
    <xsd:import namespace="c0779a59-d03b-483d-8d4c-44b877291655"/>
    <xsd:import namespace="82eefd31-36ee-401e-8e9c-fd5b9f1891e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IDLista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779a59-d03b-483d-8d4c-44b8772916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Marcações de imagem" ma:readOnly="false" ma:fieldId="{5cf76f15-5ced-4ddc-b409-7134ff3c332f}" ma:taxonomyMulti="true" ma:sspId="f5976cb3-84f8-482a-b636-9e2631ed438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IDLista" ma:index="24" nillable="true" ma:displayName="IDLista" ma:format="Dropdown" ma:internalName="IDLista">
      <xsd:simpleType>
        <xsd:restriction base="dms:Text">
          <xsd:maxLength value="255"/>
        </xsd:restriction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eefd31-36ee-401e-8e9c-fd5b9f1891e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862744de-2b8d-473f-8e61-567e4a5d35c8}" ma:internalName="TaxCatchAll" ma:showField="CatchAllData" ma:web="82eefd31-36ee-401e-8e9c-fd5b9f1891e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5BDEED4-6471-4BDD-A51F-39AD49ABB1EC}">
  <ds:schemaRefs>
    <ds:schemaRef ds:uri="82eefd31-36ee-401e-8e9c-fd5b9f1891ee"/>
    <ds:schemaRef ds:uri="c0779a59-d03b-483d-8d4c-44b877291655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F0CEE276-FD34-4ABE-A491-F31394AB6CE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3A86754-29AF-467A-B96F-9DA3FEE2A4EF}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1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Paulo Cumino</dc:creator>
  <cp:revision>5</cp:revision>
  <dcterms:created xsi:type="dcterms:W3CDTF">2024-08-05T15:06:04Z</dcterms:created>
  <dcterms:modified xsi:type="dcterms:W3CDTF">2025-08-07T18:07:12Z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0x0101005BDCD939CAA2F54B9B463B94E2308002</vt:lpwstr>
  </property>
  <property fmtid="{D5CDD505-2E9C-101B-9397-08002B2CF9AE}" pid="3" name="MediaServiceImageTags">
    <vt:lpwstr/>
  </property>
</Properties>
</file>