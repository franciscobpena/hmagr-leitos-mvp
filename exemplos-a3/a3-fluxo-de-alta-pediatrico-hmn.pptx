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95" r:id="rId6"/>
    <p:sldId id="296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KB8Aqhq9MnQr1/sxEuptLLUT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D7B87-E45A-9E6A-81A0-3A09A2D0D72B}" v="254" dt="2025-09-25T11:26:27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5" autoAdjust="0"/>
    <p:restoredTop sz="93295" autoAdjust="0"/>
  </p:normalViewPr>
  <p:slideViewPr>
    <p:cSldViewPr snapToGrid="0">
      <p:cViewPr>
        <p:scale>
          <a:sx n="75" d="100"/>
          <a:sy n="75" d="100"/>
        </p:scale>
        <p:origin x="660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1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Bahia Pena" userId="S::bp568132@bp.org.br::198d35c1-0130-4be8-9608-bf2dde6990a7" providerId="AD" clId="Web-{A92BB748-6DC3-868A-D55C-7BE90AFA8BFB}"/>
    <pc:docChg chg="modSld">
      <pc:chgData name="Francisco Bahia Pena" userId="S::bp568132@bp.org.br::198d35c1-0130-4be8-9608-bf2dde6990a7" providerId="AD" clId="Web-{A92BB748-6DC3-868A-D55C-7BE90AFA8BFB}" dt="2025-09-19T18:17:13.075" v="27" actId="1076"/>
      <pc:docMkLst>
        <pc:docMk/>
      </pc:docMkLst>
      <pc:sldChg chg="addSp delSp modSp">
        <pc:chgData name="Francisco Bahia Pena" userId="S::bp568132@bp.org.br::198d35c1-0130-4be8-9608-bf2dde6990a7" providerId="AD" clId="Web-{A92BB748-6DC3-868A-D55C-7BE90AFA8BFB}" dt="2025-09-19T18:17:13.075" v="27" actId="1076"/>
        <pc:sldMkLst>
          <pc:docMk/>
          <pc:sldMk cId="0" sldId="256"/>
        </pc:sldMkLst>
        <pc:spChg chg="add mod">
          <ac:chgData name="Francisco Bahia Pena" userId="S::bp568132@bp.org.br::198d35c1-0130-4be8-9608-bf2dde6990a7" providerId="AD" clId="Web-{A92BB748-6DC3-868A-D55C-7BE90AFA8BFB}" dt="2025-09-19T18:17:13.075" v="27" actId="1076"/>
          <ac:spMkLst>
            <pc:docMk/>
            <pc:sldMk cId="0" sldId="256"/>
            <ac:spMk id="8" creationId="{09A7CF22-87AA-ABCB-B63E-74C869FD9639}"/>
          </ac:spMkLst>
        </pc:spChg>
        <pc:picChg chg="mod">
          <ac:chgData name="Francisco Bahia Pena" userId="S::bp568132@bp.org.br::198d35c1-0130-4be8-9608-bf2dde6990a7" providerId="AD" clId="Web-{A92BB748-6DC3-868A-D55C-7BE90AFA8BFB}" dt="2025-09-19T18:16:51.559" v="18" actId="1076"/>
          <ac:picMkLst>
            <pc:docMk/>
            <pc:sldMk cId="0" sldId="256"/>
            <ac:picMk id="3" creationId="{30EB57C5-2F0F-311E-7420-E6377D176DAF}"/>
          </ac:picMkLst>
        </pc:picChg>
      </pc:sldChg>
    </pc:docChg>
  </pc:docChgLst>
  <pc:docChgLst>
    <pc:chgData name="Francisco Bahia Pena" userId="S::bp568132@bp.org.br::198d35c1-0130-4be8-9608-bf2dde6990a7" providerId="AD" clId="Web-{59AD7B87-E45A-9E6A-81A0-3A09A2D0D72B}"/>
    <pc:docChg chg="addSld delSld modSld">
      <pc:chgData name="Francisco Bahia Pena" userId="S::bp568132@bp.org.br::198d35c1-0130-4be8-9608-bf2dde6990a7" providerId="AD" clId="Web-{59AD7B87-E45A-9E6A-81A0-3A09A2D0D72B}" dt="2025-09-25T11:26:27.331" v="136" actId="1076"/>
      <pc:docMkLst>
        <pc:docMk/>
      </pc:docMkLst>
      <pc:sldChg chg="modSp">
        <pc:chgData name="Francisco Bahia Pena" userId="S::bp568132@bp.org.br::198d35c1-0130-4be8-9608-bf2dde6990a7" providerId="AD" clId="Web-{59AD7B87-E45A-9E6A-81A0-3A09A2D0D72B}" dt="2025-09-25T11:26:27.331" v="136" actId="1076"/>
        <pc:sldMkLst>
          <pc:docMk/>
          <pc:sldMk cId="0" sldId="256"/>
        </pc:sldMkLst>
        <pc:spChg chg="mod">
          <ac:chgData name="Francisco Bahia Pena" userId="S::bp568132@bp.org.br::198d35c1-0130-4be8-9608-bf2dde6990a7" providerId="AD" clId="Web-{59AD7B87-E45A-9E6A-81A0-3A09A2D0D72B}" dt="2025-09-25T11:26:27.331" v="136" actId="1076"/>
          <ac:spMkLst>
            <pc:docMk/>
            <pc:sldMk cId="0" sldId="256"/>
            <ac:spMk id="8" creationId="{09A7CF22-87AA-ABCB-B63E-74C869FD9639}"/>
          </ac:spMkLst>
        </pc:spChg>
        <pc:picChg chg="mod">
          <ac:chgData name="Francisco Bahia Pena" userId="S::bp568132@bp.org.br::198d35c1-0130-4be8-9608-bf2dde6990a7" providerId="AD" clId="Web-{59AD7B87-E45A-9E6A-81A0-3A09A2D0D72B}" dt="2025-09-25T11:26:22.300" v="135" actId="1076"/>
          <ac:picMkLst>
            <pc:docMk/>
            <pc:sldMk cId="0" sldId="256"/>
            <ac:picMk id="3" creationId="{30EB57C5-2F0F-311E-7420-E6377D176DAF}"/>
          </ac:picMkLst>
        </pc:picChg>
      </pc:sldChg>
      <pc:sldChg chg="add del">
        <pc:chgData name="Francisco Bahia Pena" userId="S::bp568132@bp.org.br::198d35c1-0130-4be8-9608-bf2dde6990a7" providerId="AD" clId="Web-{59AD7B87-E45A-9E6A-81A0-3A09A2D0D72B}" dt="2025-09-25T11:12:45.468" v="1"/>
        <pc:sldMkLst>
          <pc:docMk/>
          <pc:sldMk cId="0" sldId="275"/>
        </pc:sldMkLst>
      </pc:sldChg>
      <pc:sldChg chg="add">
        <pc:chgData name="Francisco Bahia Pena" userId="S::bp568132@bp.org.br::198d35c1-0130-4be8-9608-bf2dde6990a7" providerId="AD" clId="Web-{59AD7B87-E45A-9E6A-81A0-3A09A2D0D72B}" dt="2025-09-25T11:18:26.157" v="2"/>
        <pc:sldMkLst>
          <pc:docMk/>
          <pc:sldMk cId="0" sldId="295"/>
        </pc:sldMkLst>
      </pc:sldChg>
      <pc:sldChg chg="addSp modSp add">
        <pc:chgData name="Francisco Bahia Pena" userId="S::bp568132@bp.org.br::198d35c1-0130-4be8-9608-bf2dde6990a7" providerId="AD" clId="Web-{59AD7B87-E45A-9E6A-81A0-3A09A2D0D72B}" dt="2025-09-25T11:25:44.534" v="95" actId="14100"/>
        <pc:sldMkLst>
          <pc:docMk/>
          <pc:sldMk cId="0" sldId="296"/>
        </pc:sldMkLst>
        <pc:spChg chg="add mod">
          <ac:chgData name="Francisco Bahia Pena" userId="S::bp568132@bp.org.br::198d35c1-0130-4be8-9608-bf2dde6990a7" providerId="AD" clId="Web-{59AD7B87-E45A-9E6A-81A0-3A09A2D0D72B}" dt="2025-09-25T11:25:44.534" v="95" actId="14100"/>
          <ac:spMkLst>
            <pc:docMk/>
            <pc:sldMk cId="0" sldId="296"/>
            <ac:spMk id="2" creationId="{0632D247-0C91-2709-C3A7-12C16BC2736A}"/>
          </ac:spMkLst>
        </pc:spChg>
        <pc:spChg chg="mod">
          <ac:chgData name="Francisco Bahia Pena" userId="S::bp568132@bp.org.br::198d35c1-0130-4be8-9608-bf2dde6990a7" providerId="AD" clId="Web-{59AD7B87-E45A-9E6A-81A0-3A09A2D0D72B}" dt="2025-09-25T11:24:23.065" v="37" actId="1076"/>
          <ac:spMkLst>
            <pc:docMk/>
            <pc:sldMk cId="0" sldId="296"/>
            <ac:spMk id="763" creationId="{00000000-0000-0000-0000-000000000000}"/>
          </ac:spMkLst>
        </pc:spChg>
        <pc:picChg chg="mod">
          <ac:chgData name="Francisco Bahia Pena" userId="S::bp568132@bp.org.br::198d35c1-0130-4be8-9608-bf2dde6990a7" providerId="AD" clId="Web-{59AD7B87-E45A-9E6A-81A0-3A09A2D0D72B}" dt="2025-09-25T11:24:16.878" v="34" actId="1076"/>
          <ac:picMkLst>
            <pc:docMk/>
            <pc:sldMk cId="0" sldId="296"/>
            <ac:picMk id="771" creationId="{00000000-0000-0000-0000-000000000000}"/>
          </ac:picMkLst>
        </pc:picChg>
      </pc:sldChg>
      <pc:sldMasterChg chg="addSldLayout">
        <pc:chgData name="Francisco Bahia Pena" userId="S::bp568132@bp.org.br::198d35c1-0130-4be8-9608-bf2dde6990a7" providerId="AD" clId="Web-{59AD7B87-E45A-9E6A-81A0-3A09A2D0D72B}" dt="2025-09-25T11:12:42.749" v="0"/>
        <pc:sldMasterMkLst>
          <pc:docMk/>
          <pc:sldMasterMk cId="0" sldId="2147483648"/>
        </pc:sldMasterMkLst>
        <pc:sldLayoutChg chg="add">
          <pc:chgData name="Francisco Bahia Pena" userId="S::bp568132@bp.org.br::198d35c1-0130-4be8-9608-bf2dde6990a7" providerId="AD" clId="Web-{59AD7B87-E45A-9E6A-81A0-3A09A2D0D72B}" dt="2025-09-25T11:12:42.749" v="0"/>
          <pc:sldLayoutMkLst>
            <pc:docMk/>
            <pc:sldMasterMk cId="0" sldId="2147483648"/>
            <pc:sldLayoutMk cId="406748995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CF404B6-5235-493C-90EA-2AF028B6FA41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748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9515" y="905084"/>
            <a:ext cx="284814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Descrição do problema e Meta (Define)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53725" y="1145100"/>
            <a:ext cx="5905500" cy="1416568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53728" y="143473"/>
            <a:ext cx="5905507" cy="73504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004E6C"/>
              </a:buClr>
              <a:buSzPts val="900"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Título: </a:t>
            </a:r>
            <a:r>
              <a:rPr lang="pt-BR" sz="900" dirty="0"/>
              <a:t>Padronizaçao do Fluxo de Alta Hospitalar Pediátrica </a:t>
            </a:r>
            <a:endParaRPr lang="pt-BR"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004E6C"/>
              </a:buClr>
              <a:buSzPts val="900"/>
            </a:pPr>
            <a:endParaRPr lang="pt-BR" sz="900" dirty="0"/>
          </a:p>
          <a:p>
            <a:pPr lvl="0">
              <a:buClr>
                <a:srgbClr val="004E6C"/>
              </a:buClr>
              <a:buSzPts val="900"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Unidade/Área: </a:t>
            </a:r>
            <a:r>
              <a:rPr lang="pt-BR" sz="900" dirty="0">
                <a:sym typeface="Calibri"/>
              </a:rPr>
              <a:t>Enfermaria </a:t>
            </a:r>
          </a:p>
          <a:p>
            <a:pPr lvl="0">
              <a:buClr>
                <a:srgbClr val="004E6C"/>
              </a:buClr>
              <a:buSzPts val="900"/>
            </a:pPr>
            <a:endParaRPr sz="5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004E6C"/>
              </a:buClr>
              <a:buSzPts val="900"/>
            </a:pPr>
            <a:r>
              <a:rPr lang="pt-BR" sz="900" b="1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Líder: 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Matheus</a:t>
            </a:r>
            <a:r>
              <a:rPr lang="pt-BR" sz="900" b="1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                 Co-</a:t>
            </a: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Líder: 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Nathalia   </a:t>
            </a:r>
            <a:endParaRPr lang="pt-BR" sz="500" b="1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165275" y="143473"/>
            <a:ext cx="4698680" cy="73504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Time:</a:t>
            </a:r>
            <a:r>
              <a:rPr lang="pt-BR" sz="900" b="1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Sayara, Matheus, Angela, Patrícia </a:t>
            </a:r>
            <a:endParaRPr lang="pt-BR" sz="900" b="1" dirty="0">
              <a:solidFill>
                <a:schemeClr val="tx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Madrinha</a:t>
            </a:r>
            <a:r>
              <a:rPr lang="pt-BR" sz="900" b="1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: Dra. Fabianne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Data de Início: </a:t>
            </a:r>
            <a:r>
              <a:rPr lang="pt-BR" sz="9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01/05/2025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9515" y="2602575"/>
            <a:ext cx="1770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Estado Atual (Medição)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53725" y="2836239"/>
            <a:ext cx="5905500" cy="3393350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970000" y="143475"/>
            <a:ext cx="1170000" cy="735000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Última Atualização:</a:t>
            </a: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234373" y="1145113"/>
            <a:ext cx="5905507" cy="1416555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234375" y="2825978"/>
            <a:ext cx="5905500" cy="1482044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</a:pPr>
            <a:endParaRPr sz="900" b="0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234375" y="4538854"/>
            <a:ext cx="2905500" cy="1690821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234500" y="4538854"/>
            <a:ext cx="2905500" cy="1690822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rgbClr val="023F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148226" y="926439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Análise das Causas (Análise)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200530" y="2595146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Plano de Ação (Melhorar)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165275" y="4323477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152578" y="4336184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Métodos de Controle (Controle)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28" y="6317970"/>
            <a:ext cx="11799490" cy="37188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2D1F770-1E3B-80C1-A831-DD16E0AC3518}"/>
              </a:ext>
            </a:extLst>
          </p:cNvPr>
          <p:cNvSpPr txBox="1"/>
          <p:nvPr/>
        </p:nvSpPr>
        <p:spPr>
          <a:xfrm>
            <a:off x="11036670" y="398918"/>
            <a:ext cx="106827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dirty="0">
                <a:solidFill>
                  <a:schemeClr val="tx1"/>
                </a:solidFill>
                <a:latin typeface="Calibri"/>
                <a:cs typeface="Calibri"/>
              </a:rPr>
              <a:t>05/08/2025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D992720-65FD-5F83-5519-9F6F721FB3A7}"/>
              </a:ext>
            </a:extLst>
          </p:cNvPr>
          <p:cNvSpPr txBox="1"/>
          <p:nvPr/>
        </p:nvSpPr>
        <p:spPr>
          <a:xfrm>
            <a:off x="125149" y="1201379"/>
            <a:ext cx="593407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>
                <a:latin typeface="Calibri" panose="020F0502020204030204" pitchFamily="34" charset="0"/>
                <a:cs typeface="Calibri" panose="020F0502020204030204" pitchFamily="34" charset="0"/>
              </a:rPr>
              <a:t>O intervalo entre a alta médica e a alta hospitalar permanece acima do ideal. Apesar de 50% das altas médicas aproximadamente são prescritas pela manhã, a maior delas resultam em alta hospitalar até 12 h; mais de 70 % das saídas concentram-se no turno da tarde, prolongando a ocupação de leitos e sobrecarregando o fluxo assistencial. Além disso pela amostragem em maio, foi constatado que a maioria dos casos, a princípio são de itabuna-BA, com um tempo médio de 340 minutos, o que corrobora para uma padronização deste fluxo.</a:t>
            </a:r>
            <a:endParaRPr lang="pt-BR" sz="9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9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Objetivo/Meta: </a:t>
            </a:r>
          </a:p>
          <a:p>
            <a:r>
              <a:rPr lang="pt-BR" sz="900" dirty="0">
                <a:latin typeface="Calibri"/>
                <a:cs typeface="Calibri"/>
              </a:rPr>
              <a:t>Aumentar a efetividade do fluxo de alta médica </a:t>
            </a:r>
            <a:r>
              <a:rPr lang="pt-BR" sz="900" i="1" dirty="0" err="1">
                <a:latin typeface="Calibri"/>
                <a:cs typeface="Calibri"/>
              </a:rPr>
              <a:t>vs</a:t>
            </a:r>
            <a:r>
              <a:rPr lang="pt-BR" sz="900" dirty="0">
                <a:latin typeface="Calibri"/>
                <a:cs typeface="Calibri"/>
              </a:rPr>
              <a:t> hospitalar em relação a pacientes com alta da pediatria até 30/07/2025 e </a:t>
            </a:r>
            <a:r>
              <a:rPr lang="pt-BR" sz="900">
                <a:latin typeface="Calibri"/>
                <a:cs typeface="Calibri"/>
              </a:rPr>
              <a:t>performar abaixo do tempo de 300 minutos</a:t>
            </a:r>
            <a:endParaRPr lang="pt-BR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D4BB142-384F-D013-6473-A91FE345C5B1}"/>
              </a:ext>
            </a:extLst>
          </p:cNvPr>
          <p:cNvSpPr txBox="1"/>
          <p:nvPr/>
        </p:nvSpPr>
        <p:spPr>
          <a:xfrm>
            <a:off x="9248548" y="4510692"/>
            <a:ext cx="294345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pPr fontAlgn="base"/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1.Acompanhar periodicamente o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indicador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de tempo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médio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entre alta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médica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e alta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hospitalar</a:t>
            </a:r>
            <a:endParaRPr lang="en-US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pPr fontAlgn="base"/>
            <a:endParaRPr lang="en-US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pPr fontAlgn="base"/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2.Acompanhar o %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altas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médicas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realizadas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pela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manhã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​</a:t>
            </a:r>
          </a:p>
        </p:txBody>
      </p:sp>
      <p:pic>
        <p:nvPicPr>
          <p:cNvPr id="2" name="Imagem 1" descr="Uma imagem com texto, quadro branco, escrita à mão, captura de ecrã&#10;&#10;Os conteúdos gerados por IA podem estar incorretos.">
            <a:extLst>
              <a:ext uri="{FF2B5EF4-FFF2-40B4-BE49-F238E27FC236}">
                <a16:creationId xmlns:a16="http://schemas.microsoft.com/office/drawing/2014/main" id="{2CA7FCE6-208F-D9A5-3CBE-399A3EDEC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127824" y="2868831"/>
            <a:ext cx="3787076" cy="210643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045FB8D-7F2A-1801-DD2E-BD9F529A5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37" y="5019756"/>
            <a:ext cx="3185710" cy="10021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2E9B61-93B5-8E88-4056-CF1CEF355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615" y="5296594"/>
            <a:ext cx="1289439" cy="87092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0FD7BE3-469F-BB4D-1E35-1A8CDFF04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782" y="1230984"/>
            <a:ext cx="2667779" cy="123660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16341329-9882-F6E0-02B0-66EFCBE44A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0570" y="1193301"/>
            <a:ext cx="1595896" cy="13201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4F2B03-276B-C569-2341-4C258CB6A7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525" y="5184210"/>
            <a:ext cx="2510214" cy="8178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79979B3-E8AA-D684-F04E-4109F9A4DB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4374" y="2855242"/>
            <a:ext cx="5870574" cy="145278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229FE9D-1BBD-476B-2323-AA347F2FC2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5646" y="5297577"/>
            <a:ext cx="1137852" cy="868960"/>
          </a:xfrm>
          <a:prstGeom prst="rect">
            <a:avLst/>
          </a:prstGeom>
        </p:spPr>
      </p:pic>
      <p:pic>
        <p:nvPicPr>
          <p:cNvPr id="3" name="Imagem 2" descr="Uma imagem com texto, captura de ecrã, Tipo de letra, número&#10;&#10;Os conteúdos gerados por IA poderão estar incorretos.">
            <a:extLst>
              <a:ext uri="{FF2B5EF4-FFF2-40B4-BE49-F238E27FC236}">
                <a16:creationId xmlns:a16="http://schemas.microsoft.com/office/drawing/2014/main" id="{30EB57C5-2F0F-311E-7420-E6377D176D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632" y="4557281"/>
            <a:ext cx="2934416" cy="1148302"/>
          </a:xfrm>
          <a:prstGeom prst="rect">
            <a:avLst/>
          </a:prstGeom>
        </p:spPr>
      </p:pic>
      <p:sp>
        <p:nvSpPr>
          <p:cNvPr id="8" name="CaixaDeTexto 1">
            <a:extLst>
              <a:ext uri="{FF2B5EF4-FFF2-40B4-BE49-F238E27FC236}">
                <a16:creationId xmlns:a16="http://schemas.microsoft.com/office/drawing/2014/main" id="{09A7CF22-87AA-ABCB-B63E-74C869FD9639}"/>
              </a:ext>
            </a:extLst>
          </p:cNvPr>
          <p:cNvSpPr txBox="1"/>
          <p:nvPr/>
        </p:nvSpPr>
        <p:spPr>
          <a:xfrm>
            <a:off x="6173390" y="5685878"/>
            <a:ext cx="3025937" cy="55399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600" dirty="0"/>
              <a:t>Adicionalmente, foi estimado um </a:t>
            </a:r>
            <a:r>
              <a:rPr lang="pt-BR" sz="600" b="1" dirty="0"/>
              <a:t>custo evitado </a:t>
            </a:r>
            <a:r>
              <a:rPr lang="pt-BR" sz="600" dirty="0"/>
              <a:t>de aproximadamente </a:t>
            </a:r>
            <a:r>
              <a:rPr lang="pt-BR" sz="600" b="1" dirty="0">
                <a:solidFill>
                  <a:srgbClr val="00B050"/>
                </a:solidFill>
              </a:rPr>
              <a:t>R$ 5.700,00 anuais,</a:t>
            </a:r>
            <a:r>
              <a:rPr lang="pt-BR" sz="600" dirty="0"/>
              <a:t> com base em projeção atualizada, resultante da otimização e consequente redução de perdas no fornecimento de refeições e dietas terceirizadas. (Racional disponível na apresentação final do Hospital). Além de apoiar o giro de leitos e propagar a iniciativa para maternidade.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12;p38"/>
          <p:cNvSpPr/>
          <p:nvPr/>
        </p:nvSpPr>
        <p:spPr>
          <a:xfrm>
            <a:off x="69480" y="905040"/>
            <a:ext cx="284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Descrição do problema e Meta (Define)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31" name="Google Shape;713;p38"/>
          <p:cNvSpPr/>
          <p:nvPr/>
        </p:nvSpPr>
        <p:spPr>
          <a:xfrm>
            <a:off x="153720" y="1145160"/>
            <a:ext cx="5905080" cy="141624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2" name="Google Shape;714;p38"/>
          <p:cNvSpPr/>
          <p:nvPr/>
        </p:nvSpPr>
        <p:spPr>
          <a:xfrm>
            <a:off x="153720" y="143640"/>
            <a:ext cx="5905080" cy="73476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Título: </a:t>
            </a:r>
            <a:r>
              <a:rPr lang="pt-BR" sz="900" b="0" strike="noStrike" spc="-1">
                <a:solidFill>
                  <a:srgbClr val="000000"/>
                </a:solidFill>
                <a:latin typeface="Arial"/>
                <a:ea typeface="Arial"/>
              </a:rPr>
              <a:t>Padronizaçao do Fluxo de Alta Hospitalar Pediátrica 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Unidade/Área: </a:t>
            </a:r>
            <a:r>
              <a:rPr lang="pt-BR" sz="900" b="0" strike="noStrike" spc="-1">
                <a:solidFill>
                  <a:srgbClr val="000000"/>
                </a:solidFill>
                <a:latin typeface="Arial"/>
                <a:ea typeface="Arial"/>
              </a:rPr>
              <a:t>Enfermaria 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Líder: </a:t>
            </a:r>
            <a:r>
              <a:rPr lang="pt-BR" sz="900" b="1" strike="noStrike" spc="-1">
                <a:solidFill>
                  <a:srgbClr val="000000"/>
                </a:solidFill>
                <a:latin typeface="Calibri"/>
                <a:ea typeface="Calibri"/>
              </a:rPr>
              <a:t>Matheus</a:t>
            </a: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                 Co-Líder: </a:t>
            </a:r>
            <a:r>
              <a:rPr lang="pt-BR" sz="900" b="1" strike="noStrike" spc="-1">
                <a:solidFill>
                  <a:srgbClr val="000000"/>
                </a:solidFill>
                <a:latin typeface="Calibri"/>
                <a:ea typeface="Calibri"/>
              </a:rPr>
              <a:t>Nathalia   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33" name="Google Shape;715;p38"/>
          <p:cNvSpPr/>
          <p:nvPr/>
        </p:nvSpPr>
        <p:spPr>
          <a:xfrm>
            <a:off x="6165360" y="143640"/>
            <a:ext cx="4698360" cy="73476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Time: </a:t>
            </a:r>
            <a:r>
              <a:rPr lang="pt-BR" sz="900" b="1" strike="noStrike" spc="-1">
                <a:solidFill>
                  <a:srgbClr val="000000"/>
                </a:solidFill>
                <a:latin typeface="Calibri"/>
                <a:ea typeface="Calibri"/>
              </a:rPr>
              <a:t>Sayara, Matheus, Angela, Patrícia 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Madrinha</a:t>
            </a:r>
            <a:r>
              <a:rPr lang="pt-BR" sz="900" b="1" strike="noStrike" spc="-1">
                <a:solidFill>
                  <a:srgbClr val="000000"/>
                </a:solidFill>
                <a:latin typeface="Calibri"/>
                <a:ea typeface="Calibri"/>
              </a:rPr>
              <a:t>: Dra. Fabianne 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Data de Início: </a:t>
            </a:r>
            <a:r>
              <a:rPr lang="pt-BR" sz="900" b="1" strike="noStrike" spc="-1">
                <a:solidFill>
                  <a:srgbClr val="000000"/>
                </a:solidFill>
                <a:latin typeface="Calibri"/>
                <a:ea typeface="Calibri"/>
              </a:rPr>
              <a:t>01/05/2025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</p:txBody>
      </p:sp>
      <p:sp>
        <p:nvSpPr>
          <p:cNvPr id="734" name="Google Shape;716;p38"/>
          <p:cNvSpPr/>
          <p:nvPr/>
        </p:nvSpPr>
        <p:spPr>
          <a:xfrm>
            <a:off x="69480" y="2602440"/>
            <a:ext cx="1769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Estado Atual (Medição)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35" name="Google Shape;717;p38"/>
          <p:cNvSpPr/>
          <p:nvPr/>
        </p:nvSpPr>
        <p:spPr>
          <a:xfrm>
            <a:off x="153720" y="2836080"/>
            <a:ext cx="5905080" cy="339300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</p:txBody>
      </p:sp>
      <p:sp>
        <p:nvSpPr>
          <p:cNvPr id="736" name="Google Shape;718;p38"/>
          <p:cNvSpPr/>
          <p:nvPr/>
        </p:nvSpPr>
        <p:spPr>
          <a:xfrm>
            <a:off x="10969920" y="143640"/>
            <a:ext cx="1169640" cy="73476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Última Atualização: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</p:txBody>
      </p:sp>
      <p:sp>
        <p:nvSpPr>
          <p:cNvPr id="737" name="Google Shape;719;p38"/>
          <p:cNvSpPr/>
          <p:nvPr/>
        </p:nvSpPr>
        <p:spPr>
          <a:xfrm>
            <a:off x="6234480" y="1145160"/>
            <a:ext cx="5905080" cy="141624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8" name="Google Shape;720;p38"/>
          <p:cNvSpPr/>
          <p:nvPr/>
        </p:nvSpPr>
        <p:spPr>
          <a:xfrm>
            <a:off x="6234480" y="2826000"/>
            <a:ext cx="5905080" cy="148176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9" name="Google Shape;721;p38"/>
          <p:cNvSpPr/>
          <p:nvPr/>
        </p:nvSpPr>
        <p:spPr>
          <a:xfrm>
            <a:off x="6234480" y="4538880"/>
            <a:ext cx="2905200" cy="169056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0" name="Google Shape;722;p38"/>
          <p:cNvSpPr/>
          <p:nvPr/>
        </p:nvSpPr>
        <p:spPr>
          <a:xfrm>
            <a:off x="9234360" y="4538880"/>
            <a:ext cx="2905200" cy="1690560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1" name="Google Shape;723;p38"/>
          <p:cNvSpPr/>
          <p:nvPr/>
        </p:nvSpPr>
        <p:spPr>
          <a:xfrm>
            <a:off x="6148080" y="926280"/>
            <a:ext cx="2360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Análise das Causas (Análise)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42" name="Google Shape;724;p38"/>
          <p:cNvSpPr/>
          <p:nvPr/>
        </p:nvSpPr>
        <p:spPr>
          <a:xfrm>
            <a:off x="6200640" y="2595240"/>
            <a:ext cx="2360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Plano de Ação (Melhorar)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43" name="Google Shape;725;p38"/>
          <p:cNvSpPr/>
          <p:nvPr/>
        </p:nvSpPr>
        <p:spPr>
          <a:xfrm>
            <a:off x="6165360" y="4323600"/>
            <a:ext cx="2360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Resultados 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44" name="Google Shape;726;p38"/>
          <p:cNvSpPr/>
          <p:nvPr/>
        </p:nvSpPr>
        <p:spPr>
          <a:xfrm>
            <a:off x="9152640" y="4336200"/>
            <a:ext cx="2360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4E6C"/>
                </a:solidFill>
                <a:latin typeface="Calibri"/>
                <a:ea typeface="Calibri"/>
              </a:rPr>
              <a:t>Métodos de Controle (Controle)</a:t>
            </a:r>
            <a:endParaRPr lang="pt-BR" sz="900" b="0" strike="noStrike" spc="-1">
              <a:latin typeface="Arial"/>
            </a:endParaRPr>
          </a:p>
        </p:txBody>
      </p:sp>
      <p:pic>
        <p:nvPicPr>
          <p:cNvPr id="745" name="Google Shape;727;p38"/>
          <p:cNvPicPr/>
          <p:nvPr/>
        </p:nvPicPr>
        <p:blipFill>
          <a:blip r:embed="rId2"/>
          <a:stretch/>
        </p:blipFill>
        <p:spPr>
          <a:xfrm>
            <a:off x="153720" y="6318000"/>
            <a:ext cx="11799000" cy="371520"/>
          </a:xfrm>
          <a:prstGeom prst="rect">
            <a:avLst/>
          </a:prstGeom>
          <a:ln w="0">
            <a:noFill/>
          </a:ln>
        </p:spPr>
      </p:pic>
      <p:sp>
        <p:nvSpPr>
          <p:cNvPr id="746" name="Google Shape;728;p38"/>
          <p:cNvSpPr/>
          <p:nvPr/>
        </p:nvSpPr>
        <p:spPr>
          <a:xfrm>
            <a:off x="11036520" y="398880"/>
            <a:ext cx="106776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Calibri"/>
                <a:ea typeface="Calibri"/>
              </a:rPr>
              <a:t>05/08/2025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747" name="Google Shape;729;p38"/>
          <p:cNvSpPr/>
          <p:nvPr/>
        </p:nvSpPr>
        <p:spPr>
          <a:xfrm>
            <a:off x="125280" y="1201320"/>
            <a:ext cx="59338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0" strike="noStrike" spc="-1">
                <a:solidFill>
                  <a:srgbClr val="000000"/>
                </a:solidFill>
                <a:latin typeface="Calibri"/>
                <a:ea typeface="Calibri"/>
              </a:rPr>
              <a:t>O intervalo entre a alta médica e a alta hospitalar permanece acima do ideal. Apesar de 50% das altas médicas aproximadamente são prescritas pela manhã, a maior delas resultam em alta hospitalar até 12 h; mais de 70 % das saídas concentram-se no turno da tarde, prolongando a ocupação de leitos e sobrecarregando o fluxo assistencial. Além disso pela amostragem em maio, foi constatado que a maioria dos casos, a princípio são de itabuna-BA, com um tempo médio de 340 minutos, o que corrobora para uma padronização deste fluxo.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1" strike="noStrike" spc="-1">
                <a:solidFill>
                  <a:srgbClr val="000000"/>
                </a:solidFill>
                <a:latin typeface="Calibri"/>
                <a:ea typeface="Calibri"/>
              </a:rPr>
              <a:t>Objetivo/Meta: 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0" strike="noStrike" spc="-1">
                <a:solidFill>
                  <a:srgbClr val="000000"/>
                </a:solidFill>
                <a:latin typeface="Calibri"/>
                <a:ea typeface="Calibri"/>
              </a:rPr>
              <a:t>Aumentar a efetividade do fluxo de alta médica </a:t>
            </a:r>
            <a:r>
              <a:rPr lang="pt-BR" sz="9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vs</a:t>
            </a:r>
            <a:r>
              <a:rPr lang="pt-BR" sz="900" b="0" strike="noStrike" spc="-1">
                <a:solidFill>
                  <a:srgbClr val="000000"/>
                </a:solidFill>
                <a:latin typeface="Calibri"/>
                <a:ea typeface="Calibri"/>
              </a:rPr>
              <a:t> hospitalar em relação a pacientes com alta da pediatria até 30/07/2025 e performar abaixo do tempo de 300 minutos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48" name="Google Shape;730;p38"/>
          <p:cNvSpPr/>
          <p:nvPr/>
        </p:nvSpPr>
        <p:spPr>
          <a:xfrm>
            <a:off x="9248400" y="4510800"/>
            <a:ext cx="294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0" strike="noStrike" spc="-1">
                <a:solidFill>
                  <a:srgbClr val="000000"/>
                </a:solidFill>
                <a:latin typeface="Calibri"/>
                <a:ea typeface="Calibri"/>
              </a:rPr>
              <a:t>1.Acompanhar periodicamente o indicador de tempo médio entre alta médica e alta hospitalar</a:t>
            </a: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9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900" b="0" strike="noStrike" spc="-1">
                <a:solidFill>
                  <a:srgbClr val="000000"/>
                </a:solidFill>
                <a:latin typeface="Calibri"/>
                <a:ea typeface="Calibri"/>
              </a:rPr>
              <a:t>2.Acompanhar o % de altas médicas realizadas pela manhã​</a:t>
            </a:r>
            <a:endParaRPr lang="pt-BR" sz="900" b="0" strike="noStrike" spc="-1">
              <a:latin typeface="Arial"/>
            </a:endParaRPr>
          </a:p>
        </p:txBody>
      </p:sp>
      <p:pic>
        <p:nvPicPr>
          <p:cNvPr id="749" name="Google Shape;731;p38" descr="Uma imagem com texto, quadro branco, escrita à mão, captura de ecrã&#10;&#10;Os conteúdos gerados por IA podem estar incorretos."/>
          <p:cNvPicPr/>
          <p:nvPr/>
        </p:nvPicPr>
        <p:blipFill>
          <a:blip r:embed="rId3"/>
          <a:stretch/>
        </p:blipFill>
        <p:spPr>
          <a:xfrm>
            <a:off x="1127880" y="2868840"/>
            <a:ext cx="3786840" cy="2106000"/>
          </a:xfrm>
          <a:prstGeom prst="rect">
            <a:avLst/>
          </a:prstGeom>
          <a:ln w="0">
            <a:noFill/>
          </a:ln>
        </p:spPr>
      </p:pic>
      <p:pic>
        <p:nvPicPr>
          <p:cNvPr id="750" name="Google Shape;732;p38"/>
          <p:cNvPicPr/>
          <p:nvPr/>
        </p:nvPicPr>
        <p:blipFill>
          <a:blip r:embed="rId4"/>
          <a:stretch/>
        </p:blipFill>
        <p:spPr>
          <a:xfrm>
            <a:off x="189720" y="5019840"/>
            <a:ext cx="3185280" cy="1001880"/>
          </a:xfrm>
          <a:prstGeom prst="rect">
            <a:avLst/>
          </a:prstGeom>
          <a:ln w="0">
            <a:noFill/>
          </a:ln>
        </p:spPr>
      </p:pic>
      <p:pic>
        <p:nvPicPr>
          <p:cNvPr id="751" name="Google Shape;733;p38"/>
          <p:cNvPicPr/>
          <p:nvPr/>
        </p:nvPicPr>
        <p:blipFill>
          <a:blip r:embed="rId5"/>
          <a:stretch/>
        </p:blipFill>
        <p:spPr>
          <a:xfrm>
            <a:off x="9395640" y="5296680"/>
            <a:ext cx="1289160" cy="870480"/>
          </a:xfrm>
          <a:prstGeom prst="rect">
            <a:avLst/>
          </a:prstGeom>
          <a:ln w="0">
            <a:noFill/>
          </a:ln>
        </p:spPr>
      </p:pic>
      <p:pic>
        <p:nvPicPr>
          <p:cNvPr id="752" name="Google Shape;734;p38"/>
          <p:cNvPicPr/>
          <p:nvPr/>
        </p:nvPicPr>
        <p:blipFill>
          <a:blip r:embed="rId6"/>
          <a:stretch/>
        </p:blipFill>
        <p:spPr>
          <a:xfrm>
            <a:off x="6724800" y="1230840"/>
            <a:ext cx="2667240" cy="1236240"/>
          </a:xfrm>
          <a:prstGeom prst="rect">
            <a:avLst/>
          </a:prstGeom>
          <a:ln w="0">
            <a:noFill/>
          </a:ln>
        </p:spPr>
      </p:pic>
      <p:pic>
        <p:nvPicPr>
          <p:cNvPr id="753" name="Google Shape;735;p38"/>
          <p:cNvPicPr/>
          <p:nvPr/>
        </p:nvPicPr>
        <p:blipFill>
          <a:blip r:embed="rId7"/>
          <a:stretch/>
        </p:blipFill>
        <p:spPr>
          <a:xfrm>
            <a:off x="9930600" y="1193400"/>
            <a:ext cx="1595520" cy="1319760"/>
          </a:xfrm>
          <a:prstGeom prst="rect">
            <a:avLst/>
          </a:prstGeom>
          <a:ln w="0">
            <a:noFill/>
          </a:ln>
        </p:spPr>
      </p:pic>
      <p:pic>
        <p:nvPicPr>
          <p:cNvPr id="754" name="Google Shape;736;p38"/>
          <p:cNvPicPr/>
          <p:nvPr/>
        </p:nvPicPr>
        <p:blipFill>
          <a:blip r:embed="rId8"/>
          <a:stretch/>
        </p:blipFill>
        <p:spPr>
          <a:xfrm>
            <a:off x="3390480" y="5184360"/>
            <a:ext cx="2509920" cy="817560"/>
          </a:xfrm>
          <a:prstGeom prst="rect">
            <a:avLst/>
          </a:prstGeom>
          <a:ln w="0">
            <a:noFill/>
          </a:ln>
        </p:spPr>
      </p:pic>
      <p:pic>
        <p:nvPicPr>
          <p:cNvPr id="755" name="Google Shape;737;p38"/>
          <p:cNvPicPr/>
          <p:nvPr/>
        </p:nvPicPr>
        <p:blipFill>
          <a:blip r:embed="rId9"/>
          <a:stretch/>
        </p:blipFill>
        <p:spPr>
          <a:xfrm>
            <a:off x="6234480" y="2855160"/>
            <a:ext cx="5870160" cy="1452600"/>
          </a:xfrm>
          <a:prstGeom prst="rect">
            <a:avLst/>
          </a:prstGeom>
          <a:ln w="0">
            <a:noFill/>
          </a:ln>
        </p:spPr>
      </p:pic>
      <p:pic>
        <p:nvPicPr>
          <p:cNvPr id="756" name="Google Shape;738;p38"/>
          <p:cNvPicPr/>
          <p:nvPr/>
        </p:nvPicPr>
        <p:blipFill>
          <a:blip r:embed="rId10"/>
          <a:stretch/>
        </p:blipFill>
        <p:spPr>
          <a:xfrm>
            <a:off x="10685520" y="5297400"/>
            <a:ext cx="1137600" cy="868680"/>
          </a:xfrm>
          <a:prstGeom prst="rect">
            <a:avLst/>
          </a:prstGeom>
          <a:ln w="0">
            <a:noFill/>
          </a:ln>
        </p:spPr>
      </p:pic>
      <p:pic>
        <p:nvPicPr>
          <p:cNvPr id="757" name="Google Shape;739;p38" descr="Uma imagem com texto, captura de ecrã, Tipo de letra, número&#10;&#10;Os conteúdos gerados por IA poderão estar incorretos."/>
          <p:cNvPicPr/>
          <p:nvPr/>
        </p:nvPicPr>
        <p:blipFill>
          <a:blip r:embed="rId11"/>
          <a:stretch/>
        </p:blipFill>
        <p:spPr>
          <a:xfrm>
            <a:off x="6253560" y="4561560"/>
            <a:ext cx="2863440" cy="1612080"/>
          </a:xfrm>
          <a:prstGeom prst="rect">
            <a:avLst/>
          </a:prstGeom>
          <a:ln w="0">
            <a:noFill/>
          </a:ln>
        </p:spPr>
      </p:pic>
      <p:sp>
        <p:nvSpPr>
          <p:cNvPr id="758" name="Google Shape;740;p38"/>
          <p:cNvSpPr/>
          <p:nvPr/>
        </p:nvSpPr>
        <p:spPr>
          <a:xfrm rot="2352000">
            <a:off x="10610640" y="470520"/>
            <a:ext cx="1646280" cy="27972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Arial"/>
              </a:rPr>
              <a:t>CONCLUÍDO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759" name="Google Shape;741;p38"/>
          <p:cNvSpPr/>
          <p:nvPr/>
        </p:nvSpPr>
        <p:spPr>
          <a:xfrm>
            <a:off x="0" y="-18000"/>
            <a:ext cx="12160440" cy="6875640"/>
          </a:xfrm>
          <a:prstGeom prst="rect">
            <a:avLst/>
          </a:prstGeom>
          <a:solidFill>
            <a:schemeClr val="lt1">
              <a:alpha val="49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60" name="Google Shape;742;p38"/>
          <p:cNvPicPr/>
          <p:nvPr/>
        </p:nvPicPr>
        <p:blipFill>
          <a:blip r:embed="rId12"/>
          <a:stretch/>
        </p:blipFill>
        <p:spPr>
          <a:xfrm>
            <a:off x="2616480" y="3386520"/>
            <a:ext cx="6535080" cy="2590560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</p:pic>
      <p:pic>
        <p:nvPicPr>
          <p:cNvPr id="761" name="Google Shape;743;p38"/>
          <p:cNvPicPr/>
          <p:nvPr/>
        </p:nvPicPr>
        <p:blipFill>
          <a:blip r:embed="rId13"/>
          <a:stretch/>
        </p:blipFill>
        <p:spPr>
          <a:xfrm>
            <a:off x="2616480" y="351720"/>
            <a:ext cx="6535080" cy="2819160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342;p 2" descr="A blue background with white lines&#10;&#10;Description automatically generated"/>
          <p:cNvPicPr/>
          <p:nvPr/>
        </p:nvPicPr>
        <p:blipFill>
          <a:blip r:embed="rId2"/>
          <a:stretch/>
        </p:blipFill>
        <p:spPr>
          <a:xfrm>
            <a:off x="0" y="0"/>
            <a:ext cx="12188880" cy="6854760"/>
          </a:xfrm>
          <a:prstGeom prst="rect">
            <a:avLst/>
          </a:prstGeom>
          <a:ln w="0">
            <a:noFill/>
          </a:ln>
        </p:spPr>
      </p:pic>
      <p:sp>
        <p:nvSpPr>
          <p:cNvPr id="763" name="Google Shape;343;p 2"/>
          <p:cNvSpPr/>
          <p:nvPr/>
        </p:nvSpPr>
        <p:spPr>
          <a:xfrm>
            <a:off x="8640" y="0"/>
            <a:ext cx="12232800" cy="6860160"/>
          </a:xfrm>
          <a:custGeom>
            <a:avLst/>
            <a:gdLst/>
            <a:ahLst/>
            <a:cxnLst/>
            <a:rect l="l" t="t" r="r" b="b"/>
            <a:pathLst>
              <a:path w="12236064" h="6863255">
                <a:moveTo>
                  <a:pt x="2022" y="2354318"/>
                </a:moveTo>
                <a:lnTo>
                  <a:pt x="3775237" y="0"/>
                </a:lnTo>
                <a:lnTo>
                  <a:pt x="12236064" y="0"/>
                </a:lnTo>
                <a:cubicBezTo>
                  <a:pt x="12229057" y="1664138"/>
                  <a:pt x="12222051" y="3853793"/>
                  <a:pt x="12215044" y="5517931"/>
                </a:cubicBezTo>
                <a:lnTo>
                  <a:pt x="10049914" y="6863255"/>
                </a:lnTo>
                <a:lnTo>
                  <a:pt x="2023" y="6863255"/>
                </a:lnTo>
                <a:cubicBezTo>
                  <a:pt x="9030" y="5181600"/>
                  <a:pt x="-4985" y="4035973"/>
                  <a:pt x="2022" y="2354318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64" name="Google Shape;344;p 2" descr="A black background with green and orange stripes&#10;&#10;Description automatically generated"/>
          <p:cNvPicPr/>
          <p:nvPr/>
        </p:nvPicPr>
        <p:blipFill>
          <a:blip r:embed="rId3"/>
          <a:srcRect l="9143" t="41685" r="60370" b="20840"/>
          <a:stretch/>
        </p:blipFill>
        <p:spPr>
          <a:xfrm>
            <a:off x="10193040" y="5475960"/>
            <a:ext cx="1995840" cy="1378800"/>
          </a:xfrm>
          <a:prstGeom prst="rect">
            <a:avLst/>
          </a:prstGeom>
          <a:ln w="0">
            <a:noFill/>
          </a:ln>
        </p:spPr>
      </p:pic>
      <p:pic>
        <p:nvPicPr>
          <p:cNvPr id="765" name="Google Shape;345;p 2" descr="A black background with green and orange stripes&#10;&#10;Description automatically generated"/>
          <p:cNvPicPr/>
          <p:nvPr/>
        </p:nvPicPr>
        <p:blipFill>
          <a:blip r:embed="rId3"/>
          <a:srcRect l="45310" r="29103" b="63237"/>
          <a:stretch/>
        </p:blipFill>
        <p:spPr>
          <a:xfrm>
            <a:off x="1718280" y="0"/>
            <a:ext cx="1315440" cy="1062720"/>
          </a:xfrm>
          <a:prstGeom prst="rect">
            <a:avLst/>
          </a:prstGeom>
          <a:ln w="0">
            <a:noFill/>
          </a:ln>
        </p:spPr>
      </p:pic>
      <p:pic>
        <p:nvPicPr>
          <p:cNvPr id="766" name="Google Shape;346;p 2" descr="A black background with a thin line&#10;&#10;Description automatically generated"/>
          <p:cNvPicPr/>
          <p:nvPr/>
        </p:nvPicPr>
        <p:blipFill>
          <a:blip r:embed="rId4"/>
          <a:srcRect l="47028" b="35931"/>
          <a:stretch/>
        </p:blipFill>
        <p:spPr>
          <a:xfrm>
            <a:off x="0" y="672120"/>
            <a:ext cx="2646000" cy="1798920"/>
          </a:xfrm>
          <a:prstGeom prst="rect">
            <a:avLst/>
          </a:prstGeom>
          <a:ln w="0">
            <a:noFill/>
          </a:ln>
        </p:spPr>
      </p:pic>
      <p:pic>
        <p:nvPicPr>
          <p:cNvPr id="768" name="Google Shape;348;p 2" descr="Uma imagem com texto, logótipo, emblema, símbolo&#10;&#10;Os conteúdos gerados por IA poderão estar incorretos."/>
          <p:cNvPicPr/>
          <p:nvPr/>
        </p:nvPicPr>
        <p:blipFill>
          <a:blip r:embed="rId5"/>
          <a:stretch/>
        </p:blipFill>
        <p:spPr>
          <a:xfrm>
            <a:off x="10244160" y="610200"/>
            <a:ext cx="1413000" cy="618120"/>
          </a:xfrm>
          <a:prstGeom prst="rect">
            <a:avLst/>
          </a:prstGeom>
          <a:ln w="0">
            <a:noFill/>
          </a:ln>
        </p:spPr>
      </p:pic>
      <p:sp>
        <p:nvSpPr>
          <p:cNvPr id="769" name="Google Shape;352;p 2"/>
          <p:cNvSpPr/>
          <p:nvPr/>
        </p:nvSpPr>
        <p:spPr>
          <a:xfrm>
            <a:off x="3178800" y="630360"/>
            <a:ext cx="6333480" cy="49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002060"/>
                </a:solidFill>
                <a:latin typeface="Arial"/>
                <a:ea typeface="Arial"/>
              </a:rPr>
              <a:t>Custo Evitado (R$)</a:t>
            </a:r>
            <a:endParaRPr lang="pt-BR" sz="3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i="1" strike="noStrike" spc="-1" dirty="0">
                <a:solidFill>
                  <a:srgbClr val="002060"/>
                </a:solidFill>
                <a:latin typeface="Arial"/>
                <a:ea typeface="DejaVu Sans"/>
              </a:rPr>
              <a:t>Refeições Desperdiçadas</a:t>
            </a:r>
            <a:endParaRPr lang="pt-BR" sz="3600" b="0" strike="noStrike" spc="-1" dirty="0">
              <a:latin typeface="Arial"/>
            </a:endParaRPr>
          </a:p>
        </p:txBody>
      </p:sp>
      <p:pic>
        <p:nvPicPr>
          <p:cNvPr id="770" name="Google Shape;300;p 2"/>
          <p:cNvPicPr/>
          <p:nvPr/>
        </p:nvPicPr>
        <p:blipFill>
          <a:blip r:embed="rId6"/>
          <a:stretch/>
        </p:blipFill>
        <p:spPr>
          <a:xfrm>
            <a:off x="49680" y="2706840"/>
            <a:ext cx="5090760" cy="3134880"/>
          </a:xfrm>
          <a:prstGeom prst="rect">
            <a:avLst/>
          </a:prstGeom>
          <a:ln w="0">
            <a:noFill/>
          </a:ln>
        </p:spPr>
      </p:pic>
      <p:pic>
        <p:nvPicPr>
          <p:cNvPr id="771" name="Google Shape;285;p 2"/>
          <p:cNvPicPr/>
          <p:nvPr/>
        </p:nvPicPr>
        <p:blipFill>
          <a:blip r:embed="rId7"/>
          <a:srcRect l="1748"/>
          <a:stretch/>
        </p:blipFill>
        <p:spPr>
          <a:xfrm>
            <a:off x="5095080" y="1756080"/>
            <a:ext cx="6451200" cy="3903120"/>
          </a:xfrm>
          <a:prstGeom prst="rect">
            <a:avLst/>
          </a:prstGeom>
          <a:ln w="0">
            <a:noFill/>
          </a:ln>
        </p:spPr>
      </p:pic>
      <p:sp>
        <p:nvSpPr>
          <p:cNvPr id="772" name="Google Shape;286;p 2"/>
          <p:cNvSpPr/>
          <p:nvPr/>
        </p:nvSpPr>
        <p:spPr>
          <a:xfrm>
            <a:off x="6051600" y="3023280"/>
            <a:ext cx="13946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9680" rIns="90000" bIns="22968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-R$ 1.912,06</a:t>
            </a:r>
            <a:endParaRPr lang="pt-BR" sz="1400" b="0" strike="noStrike" spc="-1" dirty="0">
              <a:latin typeface="Arial"/>
            </a:endParaRPr>
          </a:p>
        </p:txBody>
      </p:sp>
      <p:sp>
        <p:nvSpPr>
          <p:cNvPr id="773" name="Google Shape;287;p 2"/>
          <p:cNvSpPr/>
          <p:nvPr/>
        </p:nvSpPr>
        <p:spPr>
          <a:xfrm>
            <a:off x="7824960" y="3428280"/>
            <a:ext cx="1157760" cy="19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3680" rIns="90000" bIns="19368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 -R$1.463,84</a:t>
            </a:r>
            <a:endParaRPr lang="pt-BR" sz="1200" b="0" strike="noStrike" spc="-1" dirty="0">
              <a:latin typeface="Arial"/>
            </a:endParaRPr>
          </a:p>
        </p:txBody>
      </p:sp>
      <p:sp>
        <p:nvSpPr>
          <p:cNvPr id="774" name="Google Shape;290;p 2"/>
          <p:cNvSpPr/>
          <p:nvPr/>
        </p:nvSpPr>
        <p:spPr>
          <a:xfrm>
            <a:off x="9622800" y="3708360"/>
            <a:ext cx="1157760" cy="19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3680" rIns="90000" bIns="19368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-R$1.433,05</a:t>
            </a:r>
            <a:endParaRPr lang="pt-BR" sz="1200" b="0" strike="noStrike" spc="-1" dirty="0">
              <a:latin typeface="Arial"/>
            </a:endParaRPr>
          </a:p>
        </p:txBody>
      </p:sp>
      <p:sp>
        <p:nvSpPr>
          <p:cNvPr id="775" name="Fluxograma: Processo 2"/>
          <p:cNvSpPr/>
          <p:nvPr/>
        </p:nvSpPr>
        <p:spPr>
          <a:xfrm>
            <a:off x="7563240" y="3428280"/>
            <a:ext cx="3407760" cy="1814400"/>
          </a:xfrm>
          <a:prstGeom prst="flowChartProcess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6" name="Conexão reta unidirecional 3"/>
          <p:cNvSpPr/>
          <p:nvPr/>
        </p:nvSpPr>
        <p:spPr>
          <a:xfrm>
            <a:off x="7824960" y="3466440"/>
            <a:ext cx="360" cy="27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B05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7" name="Conexão reta unidirecional 4"/>
          <p:cNvSpPr/>
          <p:nvPr/>
        </p:nvSpPr>
        <p:spPr>
          <a:xfrm>
            <a:off x="9640440" y="3746520"/>
            <a:ext cx="360" cy="27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B05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8" name="CaixaDeTexto 7"/>
          <p:cNvSpPr/>
          <p:nvPr/>
        </p:nvSpPr>
        <p:spPr>
          <a:xfrm>
            <a:off x="7612920" y="3097080"/>
            <a:ext cx="46735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B050"/>
                </a:solidFill>
                <a:latin typeface="Arial"/>
                <a:ea typeface="DejaVu Sans"/>
              </a:rPr>
              <a:t>Início da implementação das ações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779" name="CaixaDeTexto 8"/>
          <p:cNvSpPr/>
          <p:nvPr/>
        </p:nvSpPr>
        <p:spPr>
          <a:xfrm>
            <a:off x="8027280" y="5526000"/>
            <a:ext cx="1157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B050"/>
                </a:solidFill>
                <a:latin typeface="Arial"/>
                <a:ea typeface="DejaVu Sans"/>
              </a:rPr>
              <a:t>R$448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80" name="CaixaDeTexto 9"/>
          <p:cNvSpPr/>
          <p:nvPr/>
        </p:nvSpPr>
        <p:spPr>
          <a:xfrm>
            <a:off x="9729000" y="5523120"/>
            <a:ext cx="1157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B050"/>
                </a:solidFill>
                <a:latin typeface="Arial"/>
                <a:ea typeface="DejaVu Sans"/>
              </a:rPr>
              <a:t>R$479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81" name="Conexão: Ângulo Reto 3"/>
          <p:cNvSpPr/>
          <p:nvPr/>
        </p:nvSpPr>
        <p:spPr>
          <a:xfrm>
            <a:off x="6749640" y="5523120"/>
            <a:ext cx="1275480" cy="166680"/>
          </a:xfrm>
          <a:prstGeom prst="bentConnector3">
            <a:avLst>
              <a:gd name="adj1" fmla="val -799"/>
            </a:avLst>
          </a:prstGeom>
          <a:noFill/>
          <a:ln>
            <a:solidFill>
              <a:srgbClr val="00B05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2" name="Conexão: Ângulo Reto 4"/>
          <p:cNvSpPr/>
          <p:nvPr/>
        </p:nvSpPr>
        <p:spPr>
          <a:xfrm>
            <a:off x="6749640" y="5785920"/>
            <a:ext cx="3557160" cy="104760"/>
          </a:xfrm>
          <a:prstGeom prst="bentConnector4">
            <a:avLst>
              <a:gd name="adj1" fmla="val -74"/>
              <a:gd name="adj2" fmla="val 314374"/>
            </a:avLst>
          </a:prstGeom>
          <a:noFill/>
          <a:ln>
            <a:solidFill>
              <a:srgbClr val="00B05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3" name="CaixaDeTexto 10"/>
          <p:cNvSpPr/>
          <p:nvPr/>
        </p:nvSpPr>
        <p:spPr>
          <a:xfrm>
            <a:off x="7885440" y="5881320"/>
            <a:ext cx="144108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100" b="0" strike="noStrike" spc="-1">
                <a:solidFill>
                  <a:srgbClr val="00B050"/>
                </a:solidFill>
                <a:latin typeface="Arial"/>
                <a:ea typeface="DejaVu Sans"/>
              </a:rPr>
              <a:t>Custo evitado mês</a:t>
            </a:r>
            <a:endParaRPr lang="pt-BR" sz="1100" b="0" strike="noStrike" spc="-1">
              <a:latin typeface="Arial"/>
            </a:endParaRPr>
          </a:p>
        </p:txBody>
      </p:sp>
      <p:sp>
        <p:nvSpPr>
          <p:cNvPr id="784" name="CaixaDeTexto 11"/>
          <p:cNvSpPr/>
          <p:nvPr/>
        </p:nvSpPr>
        <p:spPr>
          <a:xfrm>
            <a:off x="6725160" y="6178320"/>
            <a:ext cx="41616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B050"/>
                </a:solidFill>
                <a:latin typeface="Arial"/>
                <a:ea typeface="DejaVu Sans"/>
              </a:rPr>
              <a:t>Custo Evitado Previsto: </a:t>
            </a:r>
            <a:r>
              <a:rPr lang="pt-BR" sz="1800" b="1" strike="noStrike" spc="-1">
                <a:solidFill>
                  <a:srgbClr val="00B050"/>
                </a:solidFill>
                <a:latin typeface="Arial"/>
                <a:ea typeface="DejaVu Sans"/>
              </a:rPr>
              <a:t>R$5.748,00</a:t>
            </a:r>
            <a:endParaRPr lang="pt-BR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B050"/>
                </a:solidFill>
                <a:latin typeface="Arial"/>
                <a:ea typeface="DejaVu Sans"/>
              </a:rPr>
              <a:t>(Anualizado)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85" name="CaixaDeTexto 12"/>
          <p:cNvSpPr/>
          <p:nvPr/>
        </p:nvSpPr>
        <p:spPr>
          <a:xfrm>
            <a:off x="10354680" y="5817600"/>
            <a:ext cx="1110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B050"/>
                </a:solidFill>
                <a:latin typeface="Arial"/>
                <a:ea typeface="DejaVu Sans"/>
              </a:rPr>
              <a:t>(-18,7%)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86" name="Retângulo 785"/>
          <p:cNvSpPr/>
          <p:nvPr/>
        </p:nvSpPr>
        <p:spPr>
          <a:xfrm>
            <a:off x="72000" y="3060000"/>
            <a:ext cx="1078920" cy="178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79280" rIns="90000" bIns="17928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9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Erro do prestador</a:t>
            </a:r>
            <a:endParaRPr lang="pt-BR" sz="900" b="0" strike="noStrike" spc="-1">
              <a:latin typeface="Arial"/>
            </a:endParaRPr>
          </a:p>
        </p:txBody>
      </p:sp>
      <p:sp>
        <p:nvSpPr>
          <p:cNvPr id="787" name="Conector reto 786"/>
          <p:cNvSpPr/>
          <p:nvPr/>
        </p:nvSpPr>
        <p:spPr>
          <a:xfrm>
            <a:off x="6660000" y="3960000"/>
            <a:ext cx="3780000" cy="90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32D247-0C91-2709-C3A7-12C16BC2736A}"/>
              </a:ext>
            </a:extLst>
          </p:cNvPr>
          <p:cNvSpPr txBox="1"/>
          <p:nvPr/>
        </p:nvSpPr>
        <p:spPr>
          <a:xfrm>
            <a:off x="3244917" y="1449697"/>
            <a:ext cx="79580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65 Refeições não desperdiçadas no mês de julho. Considerando como baseline maio, isso quer dizer que no ano deixamos de desperdiçar aproximadamente 780 refeições.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779a59-d03b-483d-8d4c-44b877291655">
      <Terms xmlns="http://schemas.microsoft.com/office/infopath/2007/PartnerControls"/>
    </lcf76f155ced4ddcb4097134ff3c332f>
    <IDLista xmlns="c0779a59-d03b-483d-8d4c-44b877291655" xsi:nil="true"/>
    <TaxCatchAll xmlns="82eefd31-36ee-401e-8e9c-fd5b9f1891e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DCD939CAA2F54B9B463B94E2308002" ma:contentTypeVersion="24" ma:contentTypeDescription="Crie um novo documento." ma:contentTypeScope="" ma:versionID="789dd51e64541b8b0953c04a8392fbc7">
  <xsd:schema xmlns:xsd="http://www.w3.org/2001/XMLSchema" xmlns:xs="http://www.w3.org/2001/XMLSchema" xmlns:p="http://schemas.microsoft.com/office/2006/metadata/properties" xmlns:ns2="c0779a59-d03b-483d-8d4c-44b877291655" xmlns:ns3="82eefd31-36ee-401e-8e9c-fd5b9f1891ee" targetNamespace="http://schemas.microsoft.com/office/2006/metadata/properties" ma:root="true" ma:fieldsID="a2ffd50418a1390cb7324006c5929ade" ns2:_="" ns3:_="">
    <xsd:import namespace="c0779a59-d03b-483d-8d4c-44b877291655"/>
    <xsd:import namespace="82eefd31-36ee-401e-8e9c-fd5b9f1891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IDLista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79a59-d03b-483d-8d4c-44b8772916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f5976cb3-84f8-482a-b636-9e2631ed43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IDLista" ma:index="24" nillable="true" ma:displayName="IDLista" ma:format="Dropdown" ma:internalName="IDLista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efd31-36ee-401e-8e9c-fd5b9f1891e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62744de-2b8d-473f-8e61-567e4a5d35c8}" ma:internalName="TaxCatchAll" ma:showField="CatchAllData" ma:web="82eefd31-36ee-401e-8e9c-fd5b9f1891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BDEED4-6471-4BDD-A51F-39AD49ABB1EC}">
  <ds:schemaRefs>
    <ds:schemaRef ds:uri="http://schemas.microsoft.com/office/2006/metadata/properties"/>
    <ds:schemaRef ds:uri="http://schemas.microsoft.com/office/infopath/2007/PartnerControls"/>
    <ds:schemaRef ds:uri="c0779a59-d03b-483d-8d4c-44b877291655"/>
    <ds:schemaRef ds:uri="82eefd31-36ee-401e-8e9c-fd5b9f1891ee"/>
  </ds:schemaRefs>
</ds:datastoreItem>
</file>

<file path=customXml/itemProps2.xml><?xml version="1.0" encoding="utf-8"?>
<ds:datastoreItem xmlns:ds="http://schemas.openxmlformats.org/officeDocument/2006/customXml" ds:itemID="{F0CEE276-FD34-4ABE-A491-F31394AB6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55288C-C8B6-40D8-A1A5-2E2919772B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779a59-d03b-483d-8d4c-44b877291655"/>
    <ds:schemaRef ds:uri="82eefd31-36ee-401e-8e9c-fd5b9f1891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270</Words>
  <Application>Microsoft Office PowerPoint</Application>
  <PresentationFormat>Widescreen</PresentationFormat>
  <Paragraphs>28</Paragraphs>
  <Slides>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Cumino</dc:creator>
  <cp:lastModifiedBy>Francisco Bahia Pena</cp:lastModifiedBy>
  <cp:revision>93</cp:revision>
  <dcterms:created xsi:type="dcterms:W3CDTF">2024-08-05T15:06:04Z</dcterms:created>
  <dcterms:modified xsi:type="dcterms:W3CDTF">2025-09-25T11:26:30Z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0x0101005BDCD939CAA2F54B9B463B94E2308002</vt:lpwstr>
  </property>
  <property fmtid="{D5CDD505-2E9C-101B-9397-08002B2CF9AE}" pid="3" name="MediaServiceImageTags">
    <vt:lpwstr/>
  </property>
</Properties>
</file>