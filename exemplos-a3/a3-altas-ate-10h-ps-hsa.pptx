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7"/>
  </p:notesMasterIdLst>
  <p:sldIdLst>
    <p:sldId id="256" r:id="rId5"/>
    <p:sldId id="6753" r:id="rId6"/>
  </p:sldIdLst>
  <p:sldSz cx="12192000" cy="6858000"/>
  <p:notesSz cx="6858000" cy="9144000"/>
  <p:embeddedFontLst>
    <p:embeddedFont>
      <p:font typeface="Bahnschrift SemiBold" panose="020B0502040204020203" pitchFamily="34" charset="0"/>
      <p:bold r:id="rId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4" roundtripDataSignature="AMtx7miKB8Aqhq9MnQr1/sxEuptLLUTG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358265-737B-C42A-7E03-41B3923D563F}" v="9" dt="2025-09-24T17:20:09.9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85" autoAdjust="0"/>
    <p:restoredTop sz="94660"/>
  </p:normalViewPr>
  <p:slideViewPr>
    <p:cSldViewPr snapToGrid="0">
      <p:cViewPr>
        <p:scale>
          <a:sx n="75" d="100"/>
          <a:sy n="75" d="100"/>
        </p:scale>
        <p:origin x="6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14" Type="http://customschemas.google.com/relationships/presentationmetadata" Target="meta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ADD2F773-F73E-49AC-19AB-8759612C758A}"/>
    <pc:docChg chg="modSld">
      <pc:chgData name="" userId="" providerId="" clId="Web-{ADD2F773-F73E-49AC-19AB-8759612C758A}" dt="2025-09-04T14:08:53.525" v="1"/>
      <pc:docMkLst>
        <pc:docMk/>
      </pc:docMkLst>
      <pc:sldChg chg="addSp delSp modSp">
        <pc:chgData name="" userId="" providerId="" clId="Web-{ADD2F773-F73E-49AC-19AB-8759612C758A}" dt="2025-09-04T14:08:53.525" v="1"/>
        <pc:sldMkLst>
          <pc:docMk/>
          <pc:sldMk cId="0" sldId="256"/>
        </pc:sldMkLst>
        <pc:picChg chg="add mod">
          <ac:chgData name="" userId="" providerId="" clId="Web-{ADD2F773-F73E-49AC-19AB-8759612C758A}" dt="2025-09-04T14:08:53.525" v="1"/>
          <ac:picMkLst>
            <pc:docMk/>
            <pc:sldMk cId="0" sldId="256"/>
            <ac:picMk id="10" creationId="{C0843BFB-EB5E-BC83-43C4-BFB39A2D53E2}"/>
          </ac:picMkLst>
        </pc:picChg>
      </pc:sldChg>
    </pc:docChg>
  </pc:docChgLst>
  <pc:docChgLst>
    <pc:chgData clId="Web-{45358265-737B-C42A-7E03-41B3923D563F}"/>
    <pc:docChg chg="addSld">
      <pc:chgData name="" userId="" providerId="" clId="Web-{45358265-737B-C42A-7E03-41B3923D563F}" dt="2025-09-24T17:19:20.095" v="0"/>
      <pc:docMkLst>
        <pc:docMk/>
      </pc:docMkLst>
      <pc:sldChg chg="add replId">
        <pc:chgData name="" userId="" providerId="" clId="Web-{45358265-737B-C42A-7E03-41B3923D563F}" dt="2025-09-24T17:19:20.095" v="0"/>
        <pc:sldMkLst>
          <pc:docMk/>
          <pc:sldMk cId="1706407866" sldId="257"/>
        </pc:sldMkLst>
      </pc:sldChg>
    </pc:docChg>
  </pc:docChgLst>
  <pc:docChgLst>
    <pc:chgData name="Francisco Bahia Pena" userId="S::bp568132@bp.org.br::198d35c1-0130-4be8-9608-bf2dde6990a7" providerId="AD" clId="Web-{ADD2F773-F73E-49AC-19AB-8759612C758A}"/>
    <pc:docChg chg="modSld">
      <pc:chgData name="Francisco Bahia Pena" userId="S::bp568132@bp.org.br::198d35c1-0130-4be8-9608-bf2dde6990a7" providerId="AD" clId="Web-{ADD2F773-F73E-49AC-19AB-8759612C758A}" dt="2025-09-04T14:09:21.979" v="12" actId="20577"/>
      <pc:docMkLst>
        <pc:docMk/>
      </pc:docMkLst>
      <pc:sldChg chg="modSp">
        <pc:chgData name="Francisco Bahia Pena" userId="S::bp568132@bp.org.br::198d35c1-0130-4be8-9608-bf2dde6990a7" providerId="AD" clId="Web-{ADD2F773-F73E-49AC-19AB-8759612C758A}" dt="2025-09-04T14:09:21.979" v="12" actId="20577"/>
        <pc:sldMkLst>
          <pc:docMk/>
          <pc:sldMk cId="0" sldId="256"/>
        </pc:sldMkLst>
        <pc:spChg chg="mod">
          <ac:chgData name="Francisco Bahia Pena" userId="S::bp568132@bp.org.br::198d35c1-0130-4be8-9608-bf2dde6990a7" providerId="AD" clId="Web-{ADD2F773-F73E-49AC-19AB-8759612C758A}" dt="2025-09-04T14:09:21.979" v="12" actId="20577"/>
          <ac:spMkLst>
            <pc:docMk/>
            <pc:sldMk cId="0" sldId="256"/>
            <ac:spMk id="4" creationId="{02D1F770-1E3B-80C1-A831-DD16E0AC3518}"/>
          </ac:spMkLst>
        </pc:spChg>
        <pc:picChg chg="mod">
          <ac:chgData name="Francisco Bahia Pena" userId="S::bp568132@bp.org.br::198d35c1-0130-4be8-9608-bf2dde6990a7" providerId="AD" clId="Web-{ADD2F773-F73E-49AC-19AB-8759612C758A}" dt="2025-09-04T14:09:14.041" v="7" actId="14100"/>
          <ac:picMkLst>
            <pc:docMk/>
            <pc:sldMk cId="0" sldId="256"/>
            <ac:picMk id="10" creationId="{C0843BFB-EB5E-BC83-43C4-BFB39A2D53E2}"/>
          </ac:picMkLst>
        </pc:picChg>
      </pc:sldChg>
    </pc:docChg>
  </pc:docChgLst>
  <pc:docChgLst>
    <pc:chgData name="Francisco Bahia Pena" userId="S::bp568132@bp.org.br::198d35c1-0130-4be8-9608-bf2dde6990a7" providerId="AD" clId="Web-{45358265-737B-C42A-7E03-41B3923D563F}"/>
    <pc:docChg chg="addSld delSld modSld">
      <pc:chgData name="Francisco Bahia Pena" userId="S::bp568132@bp.org.br::198d35c1-0130-4be8-9608-bf2dde6990a7" providerId="AD" clId="Web-{45358265-737B-C42A-7E03-41B3923D563F}" dt="2025-09-24T17:20:09.923" v="7" actId="1076"/>
      <pc:docMkLst>
        <pc:docMk/>
      </pc:docMkLst>
      <pc:sldChg chg="del">
        <pc:chgData name="Francisco Bahia Pena" userId="S::bp568132@bp.org.br::198d35c1-0130-4be8-9608-bf2dde6990a7" providerId="AD" clId="Web-{45358265-737B-C42A-7E03-41B3923D563F}" dt="2025-09-24T17:19:28.048" v="0"/>
        <pc:sldMkLst>
          <pc:docMk/>
          <pc:sldMk cId="1706407866" sldId="257"/>
        </pc:sldMkLst>
      </pc:sldChg>
      <pc:sldChg chg="modSp add">
        <pc:chgData name="Francisco Bahia Pena" userId="S::bp568132@bp.org.br::198d35c1-0130-4be8-9608-bf2dde6990a7" providerId="AD" clId="Web-{45358265-737B-C42A-7E03-41B3923D563F}" dt="2025-09-24T17:20:09.923" v="7" actId="1076"/>
        <pc:sldMkLst>
          <pc:docMk/>
          <pc:sldMk cId="3033289490" sldId="6753"/>
        </pc:sldMkLst>
        <pc:picChg chg="mod">
          <ac:chgData name="Francisco Bahia Pena" userId="S::bp568132@bp.org.br::198d35c1-0130-4be8-9608-bf2dde6990a7" providerId="AD" clId="Web-{45358265-737B-C42A-7E03-41B3923D563F}" dt="2025-09-24T17:20:09.923" v="7" actId="1076"/>
          <ac:picMkLst>
            <pc:docMk/>
            <pc:sldMk cId="3033289490" sldId="6753"/>
            <ac:picMk id="12" creationId="{979D5485-B94B-B91D-33A1-99009CA11ED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>
          <a:extLst>
            <a:ext uri="{FF2B5EF4-FFF2-40B4-BE49-F238E27FC236}">
              <a16:creationId xmlns:a16="http://schemas.microsoft.com/office/drawing/2014/main" id="{7E6D1372-04A1-DCDD-CDA5-8BDCA06B9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60b71e2bae_0_171:notes">
            <a:extLst>
              <a:ext uri="{FF2B5EF4-FFF2-40B4-BE49-F238E27FC236}">
                <a16:creationId xmlns:a16="http://schemas.microsoft.com/office/drawing/2014/main" id="{58C4645C-A90B-152D-3195-15B3AFC935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g360b71e2bae_0_171:notes">
            <a:extLst>
              <a:ext uri="{FF2B5EF4-FFF2-40B4-BE49-F238E27FC236}">
                <a16:creationId xmlns:a16="http://schemas.microsoft.com/office/drawing/2014/main" id="{6CE6FB41-057F-67C0-0091-6822C67E0E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64509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eg"/><Relationship Id="rId3" Type="http://schemas.openxmlformats.org/officeDocument/2006/relationships/image" Target="../media/image9.jpeg"/><Relationship Id="rId7" Type="http://schemas.openxmlformats.org/officeDocument/2006/relationships/image" Target="../media/image1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69515" y="905084"/>
            <a:ext cx="2848143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900"/>
              <a:buFont typeface="Calibri"/>
              <a:buNone/>
            </a:pPr>
            <a:r>
              <a:rPr lang="pt-BR" sz="900" b="1" i="0" u="none" strike="noStrike" cap="none" dirty="0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Descrição do problema e Meta (Define)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153725" y="1145099"/>
            <a:ext cx="5905500" cy="1828625"/>
          </a:xfrm>
          <a:prstGeom prst="rect">
            <a:avLst/>
          </a:prstGeom>
          <a:noFill/>
          <a:ln w="28575" cap="flat" cmpd="sng">
            <a:solidFill>
              <a:srgbClr val="00206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153728" y="143473"/>
            <a:ext cx="5905507" cy="735047"/>
          </a:xfrm>
          <a:prstGeom prst="rect">
            <a:avLst/>
          </a:prstGeom>
          <a:noFill/>
          <a:ln w="28575" cap="flat" cmpd="sng">
            <a:solidFill>
              <a:srgbClr val="00206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>
                <a:srgbClr val="004E6C"/>
              </a:buClr>
              <a:buSzPts val="900"/>
            </a:pPr>
            <a:r>
              <a:rPr lang="pt-BR" sz="900" b="1" i="0" u="none" strike="noStrike" cap="none" dirty="0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Título:  </a:t>
            </a:r>
            <a:r>
              <a:rPr lang="en-US" sz="900" b="1" err="1">
                <a:solidFill>
                  <a:schemeClr val="tx1"/>
                </a:solidFill>
                <a:latin typeface="Calibri"/>
                <a:cs typeface="Calibri"/>
              </a:rPr>
              <a:t>Aumentar</a:t>
            </a:r>
            <a:r>
              <a:rPr lang="en-US" sz="900" b="1" dirty="0">
                <a:solidFill>
                  <a:schemeClr val="tx1"/>
                </a:solidFill>
                <a:latin typeface="Calibri"/>
                <a:cs typeface="Calibri"/>
              </a:rPr>
              <a:t> o </a:t>
            </a:r>
            <a:r>
              <a:rPr lang="en-US" sz="900" b="1" err="1">
                <a:solidFill>
                  <a:schemeClr val="tx1"/>
                </a:solidFill>
                <a:latin typeface="Calibri"/>
                <a:cs typeface="Calibri"/>
              </a:rPr>
              <a:t>Número</a:t>
            </a:r>
            <a:r>
              <a:rPr lang="en-US" sz="900" b="1" dirty="0">
                <a:solidFill>
                  <a:schemeClr val="tx1"/>
                </a:solidFill>
                <a:latin typeface="Calibri"/>
                <a:cs typeface="Calibri"/>
              </a:rPr>
              <a:t> de Altas </a:t>
            </a:r>
            <a:r>
              <a:rPr lang="en-US" sz="900" b="1">
                <a:solidFill>
                  <a:schemeClr val="tx1"/>
                </a:solidFill>
                <a:latin typeface="Calibri"/>
                <a:cs typeface="Calibri"/>
              </a:rPr>
              <a:t>Oportunas até </a:t>
            </a:r>
            <a:r>
              <a:rPr lang="en-US" sz="900" b="1" err="1">
                <a:solidFill>
                  <a:schemeClr val="tx1"/>
                </a:solidFill>
                <a:latin typeface="Calibri"/>
                <a:cs typeface="Calibri"/>
              </a:rPr>
              <a:t>ás</a:t>
            </a:r>
            <a:r>
              <a:rPr lang="en-US" sz="900" b="1">
                <a:solidFill>
                  <a:schemeClr val="tx1"/>
                </a:solidFill>
                <a:latin typeface="Calibri"/>
                <a:cs typeface="Calibri"/>
              </a:rPr>
              <a:t> 10:00 e Pela </a:t>
            </a:r>
            <a:r>
              <a:rPr lang="en-US" sz="900" b="1" err="1">
                <a:solidFill>
                  <a:schemeClr val="tx1"/>
                </a:solidFill>
                <a:latin typeface="Calibri"/>
                <a:cs typeface="Calibri"/>
              </a:rPr>
              <a:t>Manhã</a:t>
            </a:r>
            <a:br>
              <a:rPr lang="pt-BR" sz="900" b="1" i="0" u="none" strike="noStrike" cap="none" dirty="0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500" b="1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900"/>
              <a:buFont typeface="Calibri"/>
              <a:buNone/>
            </a:pPr>
            <a:r>
              <a:rPr lang="pt-BR" sz="900" b="1" i="0" u="none" strike="noStrike" cap="none" dirty="0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Unidade/Área: </a:t>
            </a:r>
            <a:r>
              <a:rPr lang="pt-BR" sz="9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Enfermaria da Cliníca Médica</a:t>
            </a:r>
            <a:br>
              <a:rPr lang="pt-BR" sz="900" b="1" i="0" u="none" strike="noStrike" cap="none" dirty="0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500" b="1" i="0" u="none" strike="noStrike" cap="none" dirty="0">
              <a:solidFill>
                <a:srgbClr val="004E6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lvl="0">
              <a:buClr>
                <a:srgbClr val="004E6C"/>
              </a:buClr>
              <a:buSzPts val="900"/>
            </a:pPr>
            <a:r>
              <a:rPr lang="pt-BR" sz="900" b="1" i="0" u="none" strike="noStrike" cap="none" dirty="0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Líder: </a:t>
            </a:r>
            <a:r>
              <a:rPr lang="pt-BR" sz="9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J</a:t>
            </a:r>
            <a:r>
              <a:rPr lang="pt-BR" sz="9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oveanne Co-</a:t>
            </a:r>
            <a:r>
              <a:rPr lang="pt-BR" sz="900" b="1" dirty="0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Líder: </a:t>
            </a:r>
            <a:r>
              <a:rPr lang="pt-BR" sz="900" b="1" dirty="0">
                <a:solidFill>
                  <a:schemeClr val="tx1"/>
                </a:solidFill>
                <a:latin typeface="Calibri"/>
                <a:cs typeface="Calibri"/>
                <a:sym typeface="Calibri"/>
              </a:rPr>
              <a:t>Pedro</a:t>
            </a:r>
            <a:endParaRPr sz="900" b="1" dirty="0">
              <a:solidFill>
                <a:schemeClr val="tx1"/>
              </a:solidFill>
              <a:latin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6165275" y="143473"/>
            <a:ext cx="4698680" cy="735047"/>
          </a:xfrm>
          <a:prstGeom prst="rect">
            <a:avLst/>
          </a:prstGeom>
          <a:noFill/>
          <a:ln w="28575" cap="flat" cmpd="sng">
            <a:solidFill>
              <a:srgbClr val="00206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900"/>
              <a:buFont typeface="Calibri"/>
              <a:buNone/>
            </a:pPr>
            <a:r>
              <a:rPr lang="pt-BR" sz="900" b="1" i="0" u="none" strike="noStrike" cap="none" dirty="0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Time:</a:t>
            </a:r>
            <a:r>
              <a:rPr lang="pt-BR" sz="900" b="1" dirty="0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pt-BR" sz="900" b="1" dirty="0">
                <a:solidFill>
                  <a:schemeClr val="tx1"/>
                </a:solidFill>
                <a:latin typeface="Calibri"/>
                <a:cs typeface="Calibri"/>
                <a:sym typeface="Calibri"/>
              </a:rPr>
              <a:t>Thiago, Orlando, Pedro, Thales, Samira e Equipe médica da CM </a:t>
            </a: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900"/>
              <a:buFont typeface="Calibri"/>
              <a:buNone/>
            </a:pPr>
            <a:r>
              <a:rPr lang="pt-BR" sz="900" b="1" i="0" u="none" strike="noStrike" cap="none" dirty="0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Padrinho: </a:t>
            </a:r>
            <a:r>
              <a:rPr lang="pt-BR" sz="9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Nikolas</a:t>
            </a:r>
            <a:endParaRPr sz="900" b="1" i="0" u="none" strike="noStrike" cap="none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900"/>
              <a:buFont typeface="Calibri"/>
              <a:buNone/>
            </a:pPr>
            <a:r>
              <a:rPr lang="pt-BR" sz="900" b="1" i="0" u="none" strike="noStrike" cap="none" dirty="0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Data de Início: </a:t>
            </a:r>
            <a:r>
              <a:rPr lang="pt-BR" sz="900" b="1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r>
              <a:rPr lang="pt-BR" sz="900" b="1" i="0" u="none" strike="noStrike" cap="none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/05/2025</a:t>
            </a:r>
            <a:endParaRPr sz="1400" b="0" i="0" u="none" strike="noStrike" cap="none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1" i="0" u="none" strike="noStrike" cap="none" dirty="0">
              <a:solidFill>
                <a:srgbClr val="004E6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1" i="0" u="none" strike="noStrike" cap="none" dirty="0">
              <a:solidFill>
                <a:srgbClr val="004E6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69515" y="3034375"/>
            <a:ext cx="1770000" cy="23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900"/>
              <a:buFont typeface="Calibri"/>
              <a:buNone/>
            </a:pPr>
            <a:r>
              <a:rPr lang="pt-BR" sz="900" b="1" i="0" u="none" strike="noStrike" cap="none" dirty="0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Estado Atual (Medição)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153725" y="3305150"/>
            <a:ext cx="5905500" cy="2924438"/>
          </a:xfrm>
          <a:prstGeom prst="rect">
            <a:avLst/>
          </a:prstGeom>
          <a:noFill/>
          <a:ln w="28575" cap="flat" cmpd="sng">
            <a:solidFill>
              <a:srgbClr val="00206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10970000" y="143475"/>
            <a:ext cx="1170000" cy="735000"/>
          </a:xfrm>
          <a:prstGeom prst="rect">
            <a:avLst/>
          </a:prstGeom>
          <a:noFill/>
          <a:ln w="28575" cap="flat" cmpd="sng">
            <a:solidFill>
              <a:srgbClr val="00206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900"/>
              <a:buFont typeface="Calibri"/>
              <a:buNone/>
            </a:pPr>
            <a:r>
              <a:rPr lang="pt-BR" sz="900" b="1" i="0" u="none" strike="noStrike" cap="none" dirty="0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Última Atualização:</a:t>
            </a:r>
            <a:endParaRPr sz="900" b="1" i="0" u="none" strike="noStrike" cap="none" dirty="0">
              <a:solidFill>
                <a:srgbClr val="004E6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900"/>
              <a:buFont typeface="Calibri"/>
              <a:buNone/>
            </a:pPr>
            <a:endParaRPr sz="900" b="1" i="0" u="none" strike="noStrike" cap="none" dirty="0">
              <a:solidFill>
                <a:srgbClr val="004E6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1" i="0" u="none" strike="noStrike" cap="none" dirty="0">
              <a:solidFill>
                <a:srgbClr val="004E6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1" i="0" u="none" strike="noStrike" cap="none" dirty="0">
              <a:solidFill>
                <a:srgbClr val="004E6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6234373" y="1145113"/>
            <a:ext cx="5905507" cy="1525662"/>
          </a:xfrm>
          <a:prstGeom prst="rect">
            <a:avLst/>
          </a:prstGeom>
          <a:noFill/>
          <a:ln w="28575" cap="flat" cmpd="sng">
            <a:solidFill>
              <a:srgbClr val="00206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6234375" y="2973724"/>
            <a:ext cx="5905500" cy="1464059"/>
          </a:xfrm>
          <a:prstGeom prst="rect">
            <a:avLst/>
          </a:prstGeom>
          <a:noFill/>
          <a:ln w="28575" cap="flat" cmpd="sng">
            <a:solidFill>
              <a:srgbClr val="00206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marR="0" lvl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900"/>
            </a:pPr>
            <a:endParaRPr sz="900" b="0" i="0" u="none" strike="noStrike" cap="none" dirty="0">
              <a:solidFill>
                <a:srgbClr val="004E6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6213499" y="4650193"/>
            <a:ext cx="3772331" cy="1577237"/>
          </a:xfrm>
          <a:prstGeom prst="rect">
            <a:avLst/>
          </a:prstGeom>
          <a:noFill/>
          <a:ln w="28575" cap="flat" cmpd="sng">
            <a:solidFill>
              <a:srgbClr val="00206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10121659" y="4651060"/>
            <a:ext cx="2018341" cy="1575504"/>
          </a:xfrm>
          <a:prstGeom prst="rect">
            <a:avLst/>
          </a:prstGeom>
          <a:noFill/>
          <a:ln w="28575" cap="flat" cmpd="sng">
            <a:solidFill>
              <a:srgbClr val="002060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 dirty="0">
              <a:solidFill>
                <a:srgbClr val="023F6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6148226" y="926439"/>
            <a:ext cx="2360818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900"/>
              <a:buFont typeface="Calibri"/>
              <a:buNone/>
            </a:pPr>
            <a:r>
              <a:rPr lang="pt-BR" sz="900" b="1" i="0" u="none" strike="noStrike" cap="none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Análise das Causas (Análise)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6200530" y="2747546"/>
            <a:ext cx="2360818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900"/>
              <a:buFont typeface="Calibri"/>
              <a:buNone/>
            </a:pPr>
            <a:r>
              <a:rPr lang="pt-BR" sz="900" b="1" i="0" u="none" strike="noStrike" cap="none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Plano de Ação (Melhorar)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6165275" y="4425077"/>
            <a:ext cx="2360818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900"/>
              <a:buFont typeface="Calibri"/>
              <a:buNone/>
            </a:pPr>
            <a:r>
              <a:rPr lang="pt-BR" sz="900" b="1" i="0" u="none" strike="noStrike" cap="none" dirty="0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Resultados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9684934" y="4437784"/>
            <a:ext cx="2360818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E6C"/>
              </a:buClr>
              <a:buSzPts val="900"/>
              <a:buFont typeface="Calibri"/>
              <a:buNone/>
            </a:pPr>
            <a:r>
              <a:rPr lang="pt-BR" sz="900" b="1" i="0" u="none" strike="noStrike" cap="none" dirty="0">
                <a:solidFill>
                  <a:srgbClr val="004E6C"/>
                </a:solidFill>
                <a:latin typeface="Calibri"/>
                <a:ea typeface="Calibri"/>
                <a:cs typeface="Calibri"/>
                <a:sym typeface="Calibri"/>
              </a:rPr>
              <a:t>Métodos de Controle (Controle)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3728" y="6279870"/>
            <a:ext cx="11799490" cy="371888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"/>
          <p:cNvSpPr txBox="1"/>
          <p:nvPr/>
        </p:nvSpPr>
        <p:spPr>
          <a:xfrm>
            <a:off x="6216050" y="2689550"/>
            <a:ext cx="4551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2D1F770-1E3B-80C1-A831-DD16E0AC3518}"/>
              </a:ext>
            </a:extLst>
          </p:cNvPr>
          <p:cNvSpPr txBox="1"/>
          <p:nvPr/>
        </p:nvSpPr>
        <p:spPr>
          <a:xfrm>
            <a:off x="11036670" y="398918"/>
            <a:ext cx="106827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b="1" dirty="0">
                <a:solidFill>
                  <a:schemeClr val="tx1"/>
                </a:solidFill>
                <a:latin typeface="Calibri"/>
                <a:cs typeface="Calibri"/>
              </a:rPr>
              <a:t>02/09/2025</a:t>
            </a:r>
            <a:endParaRPr lang="pt-BR" b="1" dirty="0">
              <a:solidFill>
                <a:schemeClr val="tx1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D992720-65FD-5F83-5519-9F6F721FB3A7}"/>
              </a:ext>
            </a:extLst>
          </p:cNvPr>
          <p:cNvSpPr txBox="1"/>
          <p:nvPr/>
        </p:nvSpPr>
        <p:spPr>
          <a:xfrm>
            <a:off x="125149" y="1166454"/>
            <a:ext cx="5949595" cy="161582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As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altas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precoces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liberam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leitos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,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reduzem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o </a:t>
            </a:r>
            <a:r>
              <a:rPr lang="en-US" sz="900" i="1" dirty="0">
                <a:solidFill>
                  <a:schemeClr val="tx1"/>
                </a:solidFill>
                <a:latin typeface="Calibri"/>
                <a:cs typeface="Calibri"/>
              </a:rPr>
              <a:t>boarding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e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melhoram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o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fluxo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de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internações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.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Concentrar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as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altas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até as 10 h,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portanto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, é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uma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estratégia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essencial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para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acelerar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o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giro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de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leitos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. Neste A3,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priorizaremos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a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enfermaria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de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Clínica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Médica, pois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ela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apresenta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o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maior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900" i="1" dirty="0">
                <a:solidFill>
                  <a:schemeClr val="tx1"/>
                </a:solidFill>
                <a:latin typeface="Calibri"/>
                <a:cs typeface="Calibri"/>
              </a:rPr>
              <a:t>Tempo Médio de </a:t>
            </a:r>
            <a:r>
              <a:rPr lang="en-US" sz="900" i="1" dirty="0" err="1">
                <a:solidFill>
                  <a:schemeClr val="tx1"/>
                </a:solidFill>
                <a:latin typeface="Calibri"/>
                <a:cs typeface="Calibri"/>
              </a:rPr>
              <a:t>Permanência</a:t>
            </a:r>
            <a:r>
              <a:rPr lang="en-US" sz="900" i="1" dirty="0">
                <a:solidFill>
                  <a:schemeClr val="tx1"/>
                </a:solidFill>
                <a:latin typeface="Calibri"/>
                <a:cs typeface="Calibri"/>
              </a:rPr>
              <a:t> (TMP), 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a taxa de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ocupação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mais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alta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e, com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frequência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,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concentra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pacientes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em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900" i="1" dirty="0">
                <a:solidFill>
                  <a:schemeClr val="tx1"/>
                </a:solidFill>
                <a:latin typeface="Calibri"/>
                <a:cs typeface="Calibri"/>
              </a:rPr>
              <a:t>boarding,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conforme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verificado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nos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huddles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diários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.</a:t>
            </a:r>
            <a:endParaRPr lang="pt-BR" sz="900" dirty="0">
              <a:solidFill>
                <a:schemeClr val="tx1"/>
              </a:solidFill>
              <a:latin typeface="Calibri"/>
              <a:cs typeface="Calibri"/>
            </a:endParaRPr>
          </a:p>
          <a:p>
            <a:endParaRPr lang="pt-BR" sz="900" dirty="0">
              <a:solidFill>
                <a:schemeClr val="tx1"/>
              </a:solidFill>
              <a:latin typeface="Calibri"/>
              <a:cs typeface="Calibri"/>
            </a:endParaRPr>
          </a:p>
          <a:p>
            <a:r>
              <a:rPr lang="pt-BR" sz="900" b="1" dirty="0">
                <a:solidFill>
                  <a:schemeClr val="tx1"/>
                </a:solidFill>
                <a:latin typeface="Calibri"/>
                <a:cs typeface="Calibri"/>
              </a:rPr>
              <a:t>META S.M.A.R.T.:</a:t>
            </a:r>
            <a:endParaRPr lang="pt-BR" sz="900" dirty="0">
              <a:solidFill>
                <a:schemeClr val="tx1"/>
              </a:solidFill>
              <a:latin typeface="Calibri"/>
              <a:cs typeface="Calibri"/>
            </a:endParaRPr>
          </a:p>
          <a:p>
            <a:r>
              <a:rPr lang="en-US" sz="900" b="1" dirty="0">
                <a:solidFill>
                  <a:schemeClr val="tx1"/>
                </a:solidFill>
                <a:latin typeface="Calibri"/>
                <a:cs typeface="Calibri"/>
              </a:rPr>
              <a:t>Y1: 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Aumentar o percentual de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altas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médicas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até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às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10:00,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passando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da média de 21 % (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maio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–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junho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(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parcial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) / 2025) para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pelo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menos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24%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até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31/07/2025;</a:t>
            </a:r>
            <a:endParaRPr lang="pt-BR" sz="900" dirty="0">
              <a:solidFill>
                <a:schemeClr val="tx1"/>
              </a:solidFill>
              <a:latin typeface="Calibri"/>
              <a:cs typeface="Calibri"/>
            </a:endParaRPr>
          </a:p>
          <a:p>
            <a:r>
              <a:rPr lang="en-US" sz="900" b="1" dirty="0">
                <a:solidFill>
                  <a:schemeClr val="tx1"/>
                </a:solidFill>
                <a:latin typeface="Calibri"/>
                <a:cs typeface="Calibri"/>
              </a:rPr>
              <a:t>Y2: 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Aumentar o percentual de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altas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médicas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até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às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12:00,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passando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da média de 52% (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maio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–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junho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(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parcial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) / 2025) para pelo menos 55% até 31/07/2025; </a:t>
            </a:r>
            <a:endParaRPr lang="en-US" sz="900" b="1" dirty="0">
              <a:solidFill>
                <a:schemeClr val="tx1"/>
              </a:solidFill>
              <a:latin typeface="Calibri"/>
              <a:cs typeface="Calibri"/>
            </a:endParaRPr>
          </a:p>
          <a:p>
            <a:r>
              <a:rPr lang="en-US" sz="900" b="1" dirty="0" err="1">
                <a:solidFill>
                  <a:schemeClr val="tx1"/>
                </a:solidFill>
                <a:latin typeface="Calibri"/>
                <a:cs typeface="Calibri"/>
              </a:rPr>
              <a:t>Premissa</a:t>
            </a:r>
            <a:r>
              <a:rPr lang="en-US" sz="900" b="1" dirty="0">
                <a:solidFill>
                  <a:schemeClr val="tx1"/>
                </a:solidFill>
                <a:latin typeface="Calibri"/>
                <a:cs typeface="Calibri"/>
              </a:rPr>
              <a:t>: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Atender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pelo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menos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uma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das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metas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“Y1”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ou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“Y2” </a:t>
            </a:r>
            <a:r>
              <a:rPr lang="en-US" sz="900" dirty="0" err="1">
                <a:solidFill>
                  <a:schemeClr val="tx1"/>
                </a:solidFill>
                <a:latin typeface="Calibri"/>
                <a:cs typeface="Calibri"/>
              </a:rPr>
              <a:t>até</a:t>
            </a:r>
            <a:r>
              <a:rPr lang="en-US" sz="900" dirty="0">
                <a:solidFill>
                  <a:schemeClr val="tx1"/>
                </a:solidFill>
                <a:latin typeface="Calibri"/>
                <a:cs typeface="Calibri"/>
              </a:rPr>
              <a:t> final de 31/07/2025.</a:t>
            </a:r>
            <a:endParaRPr lang="pt-BR" sz="900" dirty="0">
              <a:solidFill>
                <a:schemeClr val="tx1"/>
              </a:solidFill>
              <a:latin typeface="Calibri"/>
              <a:cs typeface="Calibri"/>
            </a:endParaRP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CD4BB142-384F-D013-6473-A91FE345C5B1}"/>
              </a:ext>
            </a:extLst>
          </p:cNvPr>
          <p:cNvSpPr txBox="1"/>
          <p:nvPr/>
        </p:nvSpPr>
        <p:spPr>
          <a:xfrm>
            <a:off x="10099112" y="4606574"/>
            <a:ext cx="203264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900" dirty="0">
              <a:solidFill>
                <a:schemeClr val="tx1"/>
              </a:solidFill>
              <a:latin typeface="Calibri"/>
              <a:cs typeface="Calibri"/>
            </a:endParaRPr>
          </a:p>
          <a:p>
            <a:r>
              <a:rPr lang="pt-BR" sz="900" dirty="0">
                <a:solidFill>
                  <a:schemeClr val="tx1"/>
                </a:solidFill>
                <a:latin typeface="Calibri"/>
                <a:cs typeface="Calibri"/>
              </a:rPr>
              <a:t>Área da qualidade monitora mensalmente os indicadores de alta até às 10:00 divulgando para diretoria e equipe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9234CFBD-8DB0-5D45-E636-48BB3C3694A2}"/>
              </a:ext>
            </a:extLst>
          </p:cNvPr>
          <p:cNvGrpSpPr/>
          <p:nvPr/>
        </p:nvGrpSpPr>
        <p:grpSpPr>
          <a:xfrm>
            <a:off x="204693" y="3347274"/>
            <a:ext cx="5870051" cy="2831514"/>
            <a:chOff x="204693" y="3347274"/>
            <a:chExt cx="5870051" cy="2831514"/>
          </a:xfrm>
        </p:grpSpPr>
        <p:pic>
          <p:nvPicPr>
            <p:cNvPr id="2" name="Imagem 1" descr="Uma imagem com texto, file, número, Tipo de letra&#10;&#10;Os conteúdos gerados por IA podem estar incorretos.">
              <a:extLst>
                <a:ext uri="{FF2B5EF4-FFF2-40B4-BE49-F238E27FC236}">
                  <a16:creationId xmlns:a16="http://schemas.microsoft.com/office/drawing/2014/main" id="{838C7983-5DC5-014B-AF10-0975BFB7022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4693" y="3347274"/>
              <a:ext cx="5807889" cy="1501558"/>
            </a:xfrm>
            <a:prstGeom prst="rect">
              <a:avLst/>
            </a:prstGeom>
          </p:spPr>
        </p:pic>
        <p:pic>
          <p:nvPicPr>
            <p:cNvPr id="3" name="Imagem 2" descr="Uma imagem com texto, Gráfico, diagrama, file&#10;&#10;Os conteúdos gerados por IA podem estar incorretos.">
              <a:extLst>
                <a:ext uri="{FF2B5EF4-FFF2-40B4-BE49-F238E27FC236}">
                  <a16:creationId xmlns:a16="http://schemas.microsoft.com/office/drawing/2014/main" id="{E336ECC6-0A57-E50D-687F-A54CFCF001F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10468" y="4844063"/>
              <a:ext cx="3015332" cy="1323030"/>
            </a:xfrm>
            <a:prstGeom prst="rect">
              <a:avLst/>
            </a:prstGeom>
          </p:spPr>
        </p:pic>
        <p:pic>
          <p:nvPicPr>
            <p:cNvPr id="5" name="Imagem 4" descr="Uma imagem com texto, captura de ecrã, Gráfico, diagrama&#10;&#10;Os conteúdos gerados por IA podem estar incorretos.">
              <a:extLst>
                <a:ext uri="{FF2B5EF4-FFF2-40B4-BE49-F238E27FC236}">
                  <a16:creationId xmlns:a16="http://schemas.microsoft.com/office/drawing/2014/main" id="{7E6E548F-CBE7-6A16-C812-F42EF5B6EC2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225800" y="4834084"/>
              <a:ext cx="2786782" cy="1344704"/>
            </a:xfrm>
            <a:prstGeom prst="rect">
              <a:avLst/>
            </a:prstGeom>
          </p:spPr>
        </p:pic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5D6609C9-2A9B-1B57-2591-20AE1029E55F}"/>
                </a:ext>
              </a:extLst>
            </p:cNvPr>
            <p:cNvSpPr txBox="1"/>
            <p:nvPr/>
          </p:nvSpPr>
          <p:spPr>
            <a:xfrm>
              <a:off x="320425" y="5905483"/>
              <a:ext cx="2374900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Fonte:</a:t>
              </a:r>
              <a:r>
                <a:rPr lang="pt-BR" sz="600" i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datasus</a:t>
              </a:r>
            </a:p>
          </p:txBody>
        </p: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AB01FA3A-31E9-F58E-60D1-AF0409978FDF}"/>
                </a:ext>
              </a:extLst>
            </p:cNvPr>
            <p:cNvSpPr txBox="1"/>
            <p:nvPr/>
          </p:nvSpPr>
          <p:spPr>
            <a:xfrm>
              <a:off x="5312225" y="5882694"/>
              <a:ext cx="762519" cy="1846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600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Fonte:</a:t>
              </a:r>
              <a:r>
                <a:rPr lang="pt-BR" sz="600" i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datasus</a:t>
              </a:r>
            </a:p>
          </p:txBody>
        </p:sp>
      </p:grpSp>
      <p:pic>
        <p:nvPicPr>
          <p:cNvPr id="16" name="Imagem 15">
            <a:extLst>
              <a:ext uri="{FF2B5EF4-FFF2-40B4-BE49-F238E27FC236}">
                <a16:creationId xmlns:a16="http://schemas.microsoft.com/office/drawing/2014/main" id="{6402FA2C-20D7-2F5C-2473-4862C71A42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85020" y="1183168"/>
            <a:ext cx="2637322" cy="1470471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B59862D0-0567-B2BB-8A3A-A56E16EC32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5308" y="1190861"/>
            <a:ext cx="2944564" cy="1446960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17C83B93-9F34-4F2E-E5A0-63ED68F2224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66132" y="3003700"/>
            <a:ext cx="5851515" cy="140658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C0843BFB-EB5E-BC83-43C4-BFB39A2D53E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11018" y="5003482"/>
            <a:ext cx="3781247" cy="9773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>
          <a:extLst>
            <a:ext uri="{FF2B5EF4-FFF2-40B4-BE49-F238E27FC236}">
              <a16:creationId xmlns:a16="http://schemas.microsoft.com/office/drawing/2014/main" id="{AC3579B5-7EF6-DFA9-5C58-D63D2C716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27" descr="A blue background with white lines&#10;&#10;Description automatically generated">
            <a:extLst>
              <a:ext uri="{FF2B5EF4-FFF2-40B4-BE49-F238E27FC236}">
                <a16:creationId xmlns:a16="http://schemas.microsoft.com/office/drawing/2014/main" id="{CDE31F24-8CA7-F41E-FABB-8C45D3D5E9D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27">
            <a:extLst>
              <a:ext uri="{FF2B5EF4-FFF2-40B4-BE49-F238E27FC236}">
                <a16:creationId xmlns:a16="http://schemas.microsoft.com/office/drawing/2014/main" id="{F4D807A3-AE7F-2AAD-8ECA-358332A4BE6A}"/>
              </a:ext>
            </a:extLst>
          </p:cNvPr>
          <p:cNvSpPr/>
          <p:nvPr/>
        </p:nvSpPr>
        <p:spPr>
          <a:xfrm>
            <a:off x="-22032" y="0"/>
            <a:ext cx="12236064" cy="6863255"/>
          </a:xfrm>
          <a:custGeom>
            <a:avLst/>
            <a:gdLst/>
            <a:ahLst/>
            <a:cxnLst/>
            <a:rect l="l" t="t" r="r" b="b"/>
            <a:pathLst>
              <a:path w="12236064" h="6863255" extrusionOk="0">
                <a:moveTo>
                  <a:pt x="2022" y="2354318"/>
                </a:moveTo>
                <a:lnTo>
                  <a:pt x="3775237" y="0"/>
                </a:lnTo>
                <a:lnTo>
                  <a:pt x="12236064" y="0"/>
                </a:lnTo>
                <a:cubicBezTo>
                  <a:pt x="12229057" y="1664138"/>
                  <a:pt x="12222051" y="3853793"/>
                  <a:pt x="12215044" y="5517931"/>
                </a:cubicBezTo>
                <a:lnTo>
                  <a:pt x="10049914" y="6863255"/>
                </a:lnTo>
                <a:lnTo>
                  <a:pt x="2023" y="6863255"/>
                </a:lnTo>
                <a:cubicBezTo>
                  <a:pt x="9030" y="5181600"/>
                  <a:pt x="-4985" y="4035973"/>
                  <a:pt x="2022" y="235431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1" name="Google Shape;411;p27" descr="A black background with green and orange stripes&#10;&#10;Description automatically generated">
            <a:extLst>
              <a:ext uri="{FF2B5EF4-FFF2-40B4-BE49-F238E27FC236}">
                <a16:creationId xmlns:a16="http://schemas.microsoft.com/office/drawing/2014/main" id="{4A3ADE90-ED46-1636-CC42-3629A35A4A5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9143" t="41686" r="60370" b="20841"/>
          <a:stretch/>
        </p:blipFill>
        <p:spPr>
          <a:xfrm>
            <a:off x="10192882" y="5475889"/>
            <a:ext cx="1999118" cy="1382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27" descr="A black background with green and orange stripes&#10;&#10;Description automatically generated">
            <a:extLst>
              <a:ext uri="{FF2B5EF4-FFF2-40B4-BE49-F238E27FC236}">
                <a16:creationId xmlns:a16="http://schemas.microsoft.com/office/drawing/2014/main" id="{4901FEB1-7C57-1DEE-626B-CA506AF12F3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45311" r="29103" b="63236"/>
          <a:stretch/>
        </p:blipFill>
        <p:spPr>
          <a:xfrm>
            <a:off x="1718441" y="1"/>
            <a:ext cx="1318776" cy="1065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27" descr="A black background with a thin line&#10;&#10;Description automatically generated">
            <a:extLst>
              <a:ext uri="{FF2B5EF4-FFF2-40B4-BE49-F238E27FC236}">
                <a16:creationId xmlns:a16="http://schemas.microsoft.com/office/drawing/2014/main" id="{3BB082B5-F664-80FB-7FB8-7EA18C8A207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47028" b="35930"/>
          <a:stretch/>
        </p:blipFill>
        <p:spPr>
          <a:xfrm>
            <a:off x="0" y="671976"/>
            <a:ext cx="2649168" cy="18023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27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C7EA81E6-6EAC-C08E-2757-7D499A057D1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t="25278"/>
          <a:stretch/>
        </p:blipFill>
        <p:spPr>
          <a:xfrm>
            <a:off x="138267" y="438150"/>
            <a:ext cx="1438287" cy="6277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Imagem 1" descr="Uma imagem com texto, Tipo de letra, branco, design&#10;&#10;Os conteúdos gerados por IA poderão estar incorretos.">
            <a:extLst>
              <a:ext uri="{FF2B5EF4-FFF2-40B4-BE49-F238E27FC236}">
                <a16:creationId xmlns:a16="http://schemas.microsoft.com/office/drawing/2014/main" id="{FCF6705D-33CE-78F8-7757-0A9E0481152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4955" y="133082"/>
            <a:ext cx="1318778" cy="740684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64338EA5-2CA1-9665-51F7-97E231B9C752}"/>
              </a:ext>
            </a:extLst>
          </p:cNvPr>
          <p:cNvSpPr/>
          <p:nvPr/>
        </p:nvSpPr>
        <p:spPr>
          <a:xfrm>
            <a:off x="1157676" y="603149"/>
            <a:ext cx="10551848" cy="49638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lvl="0" algn="ctr"/>
            <a:r>
              <a:rPr lang="pt-BR" sz="4000">
                <a:solidFill>
                  <a:srgbClr val="002060"/>
                </a:solidFill>
                <a:latin typeface="Bahnschrift SemiBold" panose="020B0502040204020203" pitchFamily="34" charset="0"/>
                <a:ea typeface="Verdana" panose="020B0604030504040204" pitchFamily="34" charset="0"/>
              </a:rPr>
              <a:t>Médico Nota 10 </a:t>
            </a:r>
          </a:p>
          <a:p>
            <a:pPr lvl="0" algn="ctr"/>
            <a:r>
              <a:rPr lang="pt-BR" sz="2800">
                <a:solidFill>
                  <a:schemeClr val="bg2"/>
                </a:solidFill>
                <a:latin typeface="Bahnschrift SemiBold" panose="020B0502040204020203" pitchFamily="34" charset="0"/>
                <a:ea typeface="Verdana" panose="020B0604030504040204" pitchFamily="34" charset="0"/>
              </a:rPr>
              <a:t>Valorização das altas oportunas pela manhã </a:t>
            </a:r>
          </a:p>
        </p:txBody>
      </p:sp>
      <p:pic>
        <p:nvPicPr>
          <p:cNvPr id="8" name="Imagem 7" descr="Uma imagem com vestuário, pessoa, Cara humana, sorrir&#10;&#10;Os conteúdos gerados por IA podem estar incorretos.">
            <a:extLst>
              <a:ext uri="{FF2B5EF4-FFF2-40B4-BE49-F238E27FC236}">
                <a16:creationId xmlns:a16="http://schemas.microsoft.com/office/drawing/2014/main" id="{EE3943B6-77A5-DBAE-5455-AC2CDEA11C8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6604" y="1997103"/>
            <a:ext cx="5896996" cy="4422747"/>
          </a:xfrm>
          <a:prstGeom prst="rect">
            <a:avLst/>
          </a:prstGeom>
        </p:spPr>
      </p:pic>
      <p:pic>
        <p:nvPicPr>
          <p:cNvPr id="10" name="Imagem 9" descr="Uma imagem com vestuário, pessoa, sapatos, parede&#10;&#10;Os conteúdos gerados por IA podem estar incorretos.">
            <a:extLst>
              <a:ext uri="{FF2B5EF4-FFF2-40B4-BE49-F238E27FC236}">
                <a16:creationId xmlns:a16="http://schemas.microsoft.com/office/drawing/2014/main" id="{61E94AEA-AC3B-3628-23FE-F9155BF6820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5198" r="23955" b="20644"/>
          <a:stretch>
            <a:fillRect/>
          </a:stretch>
        </p:blipFill>
        <p:spPr>
          <a:xfrm>
            <a:off x="6575487" y="2011490"/>
            <a:ext cx="4536798" cy="4437624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979D5485-B94B-B91D-33A1-99009CA11ED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44421" y="4158865"/>
            <a:ext cx="3949413" cy="2013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2894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BDCD939CAA2F54B9B463B94E2308002" ma:contentTypeVersion="24" ma:contentTypeDescription="Crie um novo documento." ma:contentTypeScope="" ma:versionID="789dd51e64541b8b0953c04a8392fbc7">
  <xsd:schema xmlns:xsd="http://www.w3.org/2001/XMLSchema" xmlns:xs="http://www.w3.org/2001/XMLSchema" xmlns:p="http://schemas.microsoft.com/office/2006/metadata/properties" xmlns:ns2="c0779a59-d03b-483d-8d4c-44b877291655" xmlns:ns3="82eefd31-36ee-401e-8e9c-fd5b9f1891ee" targetNamespace="http://schemas.microsoft.com/office/2006/metadata/properties" ma:root="true" ma:fieldsID="a2ffd50418a1390cb7324006c5929ade" ns2:_="" ns3:_="">
    <xsd:import namespace="c0779a59-d03b-483d-8d4c-44b877291655"/>
    <xsd:import namespace="82eefd31-36ee-401e-8e9c-fd5b9f1891e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IDLista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779a59-d03b-483d-8d4c-44b87729165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Marcações de imagem" ma:readOnly="false" ma:fieldId="{5cf76f15-5ced-4ddc-b409-7134ff3c332f}" ma:taxonomyMulti="true" ma:sspId="f5976cb3-84f8-482a-b636-9e2631ed438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IDLista" ma:index="24" nillable="true" ma:displayName="IDLista" ma:format="Dropdown" ma:internalName="IDLista">
      <xsd:simpleType>
        <xsd:restriction base="dms:Text">
          <xsd:maxLength value="255"/>
        </xsd:restriction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7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eefd31-36ee-401e-8e9c-fd5b9f1891ee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862744de-2b8d-473f-8e61-567e4a5d35c8}" ma:internalName="TaxCatchAll" ma:showField="CatchAllData" ma:web="82eefd31-36ee-401e-8e9c-fd5b9f1891e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0779a59-d03b-483d-8d4c-44b877291655">
      <Terms xmlns="http://schemas.microsoft.com/office/infopath/2007/PartnerControls"/>
    </lcf76f155ced4ddcb4097134ff3c332f>
    <IDLista xmlns="c0779a59-d03b-483d-8d4c-44b877291655" xsi:nil="true"/>
    <TaxCatchAll xmlns="82eefd31-36ee-401e-8e9c-fd5b9f1891ee" xsi:nil="true"/>
  </documentManagement>
</p:properties>
</file>

<file path=customXml/itemProps1.xml><?xml version="1.0" encoding="utf-8"?>
<ds:datastoreItem xmlns:ds="http://schemas.openxmlformats.org/officeDocument/2006/customXml" ds:itemID="{F0CEE276-FD34-4ABE-A491-F31394AB6CE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67EF164-049E-4B61-990E-01C3F52BC37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779a59-d03b-483d-8d4c-44b877291655"/>
    <ds:schemaRef ds:uri="82eefd31-36ee-401e-8e9c-fd5b9f1891e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5BDEED4-6471-4BDD-A51F-39AD49ABB1EC}">
  <ds:schemaRefs>
    <ds:schemaRef ds:uri="http://schemas.microsoft.com/office/2006/metadata/properties"/>
    <ds:schemaRef ds:uri="http://schemas.microsoft.com/office/infopath/2007/PartnerControls"/>
    <ds:schemaRef ds:uri="c0779a59-d03b-483d-8d4c-44b877291655"/>
    <ds:schemaRef ds:uri="82eefd31-36ee-401e-8e9c-fd5b9f1891e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422</TotalTime>
  <Words>297</Words>
  <Application>Microsoft Office PowerPoint</Application>
  <PresentationFormat>Widescreen</PresentationFormat>
  <Paragraphs>25</Paragraphs>
  <Slides>2</Slides>
  <Notes>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3" baseType="lpstr">
      <vt:lpstr>Office Theme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Paulo Cumino</dc:creator>
  <cp:lastModifiedBy>Francisco Bahia Pena</cp:lastModifiedBy>
  <cp:revision>51</cp:revision>
  <dcterms:created xsi:type="dcterms:W3CDTF">2024-08-05T15:06:04Z</dcterms:created>
  <dcterms:modified xsi:type="dcterms:W3CDTF">2025-09-24T17:20:11Z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0x0101005BDCD939CAA2F54B9B463B94E2308002</vt:lpwstr>
  </property>
  <property fmtid="{D5CDD505-2E9C-101B-9397-08002B2CF9AE}" pid="3" name="MediaServiceImageTags">
    <vt:lpwstr/>
  </property>
</Properties>
</file>