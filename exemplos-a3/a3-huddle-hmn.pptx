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g3b7PzzkK0NVPS96Mr0O7l06U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BE4D7F-E54C-4DFB-84F9-3611D8ACCB83}">
  <a:tblStyle styleId="{8ABE4D7F-E54C-4DFB-84F9-3611D8ACCB8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8" name="Google Shape;13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Em Branco 3">
  <p:cSld name="9_Em Branco 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6" name="Google Shape;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69515" y="905084"/>
            <a:ext cx="284814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Descrição do problema e Meta (Define)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53725" y="1145100"/>
            <a:ext cx="5905500" cy="1228033"/>
          </a:xfrm>
          <a:prstGeom prst="rect">
            <a:avLst/>
          </a:prstGeom>
          <a:noFill/>
          <a:ln cap="flat" cmpd="sng" w="28575">
            <a:solidFill>
              <a:srgbClr val="00206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53728" y="143473"/>
            <a:ext cx="5905507" cy="735047"/>
          </a:xfrm>
          <a:prstGeom prst="rect">
            <a:avLst/>
          </a:prstGeom>
          <a:noFill/>
          <a:ln cap="flat" cmpd="sng" w="28575">
            <a:solidFill>
              <a:srgbClr val="00206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Título:  </a:t>
            </a: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Reestruturação e Otimização do Huddle Diário para Agilizar Tomada de Decisão e Desempenho Assistencial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Unidade/Área: </a:t>
            </a: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Pronto Socorro / NIR</a:t>
            </a:r>
            <a:b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500" u="none" cap="none" strike="noStrik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Líder: </a:t>
            </a: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Carla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165275" y="143473"/>
            <a:ext cx="4698680" cy="735047"/>
          </a:xfrm>
          <a:prstGeom prst="rect">
            <a:avLst/>
          </a:prstGeom>
          <a:noFill/>
          <a:ln cap="flat" cmpd="sng" w="28575">
            <a:solidFill>
              <a:srgbClr val="00206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Time: </a:t>
            </a:r>
            <a:r>
              <a:rPr b="1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Jamile, Sayara, Matheus, Marcos, Angela, Ana Paula e demais membros do Huddle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Madrinha</a:t>
            </a:r>
            <a:r>
              <a:rPr b="1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Dra. Fabianne 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Data de Início: </a:t>
            </a:r>
            <a:r>
              <a:rPr b="1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10/04/2025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9515" y="2437475"/>
            <a:ext cx="177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Estado Atual (Medição)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53725" y="2689551"/>
            <a:ext cx="5905500" cy="3540038"/>
          </a:xfrm>
          <a:prstGeom prst="rect">
            <a:avLst/>
          </a:prstGeom>
          <a:noFill/>
          <a:ln cap="flat" cmpd="sng" w="28575">
            <a:solidFill>
              <a:srgbClr val="00206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0970000" y="143475"/>
            <a:ext cx="1170000" cy="735000"/>
          </a:xfrm>
          <a:prstGeom prst="rect">
            <a:avLst/>
          </a:prstGeom>
          <a:noFill/>
          <a:ln cap="flat" cmpd="sng" w="28575">
            <a:solidFill>
              <a:srgbClr val="00206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Última Atualização:</a:t>
            </a:r>
            <a:endParaRPr b="1" i="0" sz="900" u="none" cap="none" strike="noStrik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t/>
            </a:r>
            <a:endParaRPr b="1" i="0" sz="900" u="none" cap="none" strike="noStrik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6234373" y="1145113"/>
            <a:ext cx="5905507" cy="1525662"/>
          </a:xfrm>
          <a:prstGeom prst="rect">
            <a:avLst/>
          </a:prstGeom>
          <a:noFill/>
          <a:ln cap="flat" cmpd="sng" w="28575">
            <a:solidFill>
              <a:srgbClr val="00206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234375" y="2973724"/>
            <a:ext cx="5905500" cy="1464059"/>
          </a:xfrm>
          <a:prstGeom prst="rect">
            <a:avLst/>
          </a:prstGeom>
          <a:noFill/>
          <a:ln cap="flat" cmpd="sng" w="28575">
            <a:solidFill>
              <a:srgbClr val="00206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14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6234375" y="4647948"/>
            <a:ext cx="2905500" cy="1581727"/>
          </a:xfrm>
          <a:prstGeom prst="rect">
            <a:avLst/>
          </a:prstGeom>
          <a:noFill/>
          <a:ln cap="flat" cmpd="sng" w="28575">
            <a:solidFill>
              <a:srgbClr val="00206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9234500" y="4647948"/>
            <a:ext cx="2905500" cy="1581728"/>
          </a:xfrm>
          <a:prstGeom prst="rect">
            <a:avLst/>
          </a:prstGeom>
          <a:noFill/>
          <a:ln cap="flat" cmpd="sng" w="28575">
            <a:solidFill>
              <a:srgbClr val="00206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23F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148226" y="926439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Análise das Causas (Análise)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6200530" y="2747546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Plano de Ação (Melhorar)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6165275" y="4425077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Resultados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9152578" y="4437784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b="1" i="0" lang="pt-BR" sz="900" u="none" cap="none" strike="noStrik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Métodos de Controle (Controle)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728" y="6317970"/>
            <a:ext cx="11799490" cy="371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 txBox="1"/>
          <p:nvPr/>
        </p:nvSpPr>
        <p:spPr>
          <a:xfrm>
            <a:off x="6216050" y="2689550"/>
            <a:ext cx="455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1036670" y="398918"/>
            <a:ext cx="10682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04/07/2025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25149" y="1172804"/>
            <a:ext cx="59340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Embora o huddle já ocorra, constatou-se que não há clareza sobre a área líder responsável por conduzi-lo, nem existe um roteiro estruturado de gestão à vista que permita aos participantes visualizar, por especialidade, os gargalos e, assim, direcionar e priorizar as ações necessárias com maior eficácia e eficiência.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Objetivo/Meta: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agilidade e resolutividade de pendências no PS bem como a efetividade na comunicação até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30/06/2025*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Nota*:Resultados mensurados por meio de uma pesquisa qualitativa com equipe intengrantes do rito multidisciplinar. 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9221943" y="4559654"/>
            <a:ext cx="155917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1.Grupo de WhatsApp  com Equipe participante e Quadro de gestão à vista atualizado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2.QR code de presença  ao lado do quadro de gestão a vista para áreas</a:t>
            </a:r>
            <a:endParaRPr/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2854" y="1302927"/>
            <a:ext cx="2893493" cy="1273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5">
            <a:alphaModFix/>
          </a:blip>
          <a:srcRect b="0" l="0" r="33788" t="0"/>
          <a:stretch/>
        </p:blipFill>
        <p:spPr>
          <a:xfrm>
            <a:off x="10850485" y="4695526"/>
            <a:ext cx="1167199" cy="147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4787" y="5759983"/>
            <a:ext cx="734622" cy="38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68774" y="5568373"/>
            <a:ext cx="361652" cy="60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5222" y="1281094"/>
            <a:ext cx="2643398" cy="1281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6224" y="2990405"/>
            <a:ext cx="5868723" cy="1447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0251" y="2883173"/>
            <a:ext cx="5879648" cy="3127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31407" y="4649345"/>
            <a:ext cx="2915413" cy="13159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"/>
          <p:cNvSpPr txBox="1"/>
          <p:nvPr/>
        </p:nvSpPr>
        <p:spPr>
          <a:xfrm>
            <a:off x="6205682" y="5954568"/>
            <a:ext cx="346363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ação também apoio o Giro de Leitos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14"/>
          <p:cNvGrpSpPr/>
          <p:nvPr/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</p:grpSpPr>
        <p:sp>
          <p:nvSpPr>
            <p:cNvPr id="126" name="Google Shape;126;p14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14"/>
          <p:cNvSpPr/>
          <p:nvPr/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áfico, Gráfico de cascata&#10;&#10;O conteúdo gerado por IA pode estar incorreto." id="129" name="Google Shape;129;p14"/>
          <p:cNvPicPr preferRelativeResize="0"/>
          <p:nvPr/>
        </p:nvPicPr>
        <p:blipFill rotWithShape="1">
          <a:blip r:embed="rId3">
            <a:alphaModFix/>
          </a:blip>
          <a:srcRect b="0" l="0" r="0" t="3427"/>
          <a:stretch/>
        </p:blipFill>
        <p:spPr>
          <a:xfrm>
            <a:off x="838200" y="704765"/>
            <a:ext cx="10628376" cy="5440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0" y="8390"/>
            <a:ext cx="12190401" cy="686297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16"/>
          <p:cNvGraphicFramePr/>
          <p:nvPr/>
        </p:nvGraphicFramePr>
        <p:xfrm>
          <a:off x="6257927" y="23658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{8ABE4D7F-E54C-4DFB-84F9-3611D8ACCB83}</a:tableStyleId>
              </a:tblPr>
              <a:tblGrid>
                <a:gridCol w="723350"/>
                <a:gridCol w="40525"/>
                <a:gridCol w="275575"/>
                <a:gridCol w="111050"/>
                <a:gridCol w="186800"/>
                <a:gridCol w="181125"/>
                <a:gridCol w="27750"/>
                <a:gridCol w="82900"/>
                <a:gridCol w="190850"/>
                <a:gridCol w="49600"/>
                <a:gridCol w="38800"/>
                <a:gridCol w="187375"/>
                <a:gridCol w="99350"/>
                <a:gridCol w="185400"/>
                <a:gridCol w="86475"/>
                <a:gridCol w="53900"/>
                <a:gridCol w="166725"/>
                <a:gridCol w="72425"/>
                <a:gridCol w="38800"/>
                <a:gridCol w="239900"/>
                <a:gridCol w="1420600"/>
              </a:tblGrid>
              <a:tr h="131825">
                <a:tc gridSpan="21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600"/>
                        <a:buFont typeface="Arial"/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BALANÇO  ENTRADA vs SAÍDA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948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lt1"/>
                          </a:solidFill>
                        </a:rPr>
                        <a:t>PERGUNTAS</a:t>
                      </a:r>
                      <a:endParaRPr b="1" i="0" sz="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lt1"/>
                          </a:solidFill>
                        </a:rPr>
                        <a:t>UTI PED</a:t>
                      </a:r>
                      <a:endParaRPr b="1" i="0" sz="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UTI NEO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</a:t>
                      </a:r>
                      <a:endParaRPr b="1" i="0" sz="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PED </a:t>
                      </a:r>
                      <a:endParaRPr b="1" i="0" sz="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POP</a:t>
                      </a:r>
                      <a:endParaRPr b="1" i="0" sz="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PWM</a:t>
                      </a:r>
                      <a:endParaRPr b="1" i="0" sz="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ONCO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600"/>
                        <a:buFont typeface="Arial"/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 | RESP. | PRAZO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2310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(+) Leitos Vagos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8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(+)</a:t>
                      </a:r>
                      <a:r>
                        <a:rPr b="1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Previsão de alta para hoje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31825">
                <a:tc gridSpan="21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8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lang="pt-BR" sz="600" u="none" cap="none" strike="noStrike"/>
                        <a:t>(-) Pacientes no PS aguardando leito</a:t>
                      </a:r>
                      <a:endParaRPr b="1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8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Arial"/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(-) Pacientes de Isolamento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131825">
                <a:tc gridSpan="21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600"/>
                        <a:buFont typeface="Arial"/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POTENCIAIS NOVAS VAGAS/PENDÊNCIAS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6182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lt1"/>
                          </a:solidFill>
                        </a:rPr>
                        <a:t>PERGUNTAS</a:t>
                      </a:r>
                      <a:endParaRPr b="1" i="0" sz="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lt1"/>
                          </a:solidFill>
                        </a:rPr>
                        <a:t>UTI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lt1"/>
                          </a:solidFill>
                        </a:rPr>
                        <a:t>PED</a:t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UTI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NEO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PED </a:t>
                      </a:r>
                      <a:endParaRPr b="1" i="0" sz="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</a:t>
                      </a:r>
                      <a:endParaRPr b="1" i="0" sz="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PWM</a:t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ONCO</a:t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600"/>
                        <a:buFont typeface="Arial"/>
                        <a:buNone/>
                      </a:pPr>
                      <a:r>
                        <a:rPr b="1" i="0" lang="pt-BR" sz="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PENDÊNCIA |AÇÃO |RESP. | PRAZO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2618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Pacientes c/ Pendências de Laboratório 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322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Pacientes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c/Pendências de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Imagem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RX</a:t>
                      </a:r>
                      <a:endParaRPr b="1"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16650">
                <a:tc v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TC</a:t>
                      </a:r>
                      <a:endParaRPr b="1" sz="900" u="none" cap="none" strike="noStrike"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485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Pacientes aguardando transferências (Regulação)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8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/>
                        <a:t>Pacientes com pendência social 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618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Pacientes com perfil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 ir para sala de alta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8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Pacientes c/altas retidas a  mais de 24 horas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8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600" u="none" cap="none" strike="noStrike"/>
                        <a:t>Pacientes c/interconsultas pendentes (</a:t>
                      </a:r>
                      <a:r>
                        <a:rPr b="1" lang="pt-BR" sz="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Rnm/Usg/Eco)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2741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Leitos com bloqueados com potencial liberação</a:t>
                      </a:r>
                      <a:endParaRPr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18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1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Cirurgias que podem ser postegardas</a:t>
                      </a:r>
                      <a:endParaRPr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Google Shape;141;p16"/>
          <p:cNvGraphicFramePr/>
          <p:nvPr/>
        </p:nvGraphicFramePr>
        <p:xfrm>
          <a:off x="6263276" y="8318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{8ABE4D7F-E54C-4DFB-84F9-3611D8ACCB83}</a:tableStyleId>
              </a:tblPr>
              <a:tblGrid>
                <a:gridCol w="263675"/>
                <a:gridCol w="561925"/>
                <a:gridCol w="324175"/>
                <a:gridCol w="328500"/>
                <a:gridCol w="319850"/>
                <a:gridCol w="306900"/>
                <a:gridCol w="410675"/>
                <a:gridCol w="311175"/>
                <a:gridCol w="289600"/>
                <a:gridCol w="276650"/>
                <a:gridCol w="1038275"/>
              </a:tblGrid>
              <a:tr h="21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ÁREAS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PERGUNTAS </a:t>
                      </a:r>
                      <a:endParaRPr/>
                    </a:p>
                  </a:txBody>
                  <a:tcPr marT="1400" marB="0" marR="1400" marL="1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PED</a:t>
                      </a:r>
                      <a:endParaRPr/>
                    </a:p>
                  </a:txBody>
                  <a:tcPr marT="1400" marB="0" marR="1400" marL="1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 (C/RN)</a:t>
                      </a:r>
                      <a:endParaRPr sz="500" u="none" cap="none" strike="noStrike"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 (S/RN)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VAGA UTI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PARTURIENTES</a:t>
                      </a:r>
                      <a:endParaRPr/>
                    </a:p>
                  </a:txBody>
                  <a:tcPr marT="5125" marB="5125" marR="5125" marL="512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IMAGEM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 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SOCIAL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 | RESP. | PRAZO</a:t>
                      </a:r>
                      <a:endParaRPr/>
                    </a:p>
                  </a:txBody>
                  <a:tcPr marT="1400" marB="0" marR="1400" marL="140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22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Paciente internado s/leito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 u="none" cap="none" strike="noStrike"/>
                        <a:t> 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 u="none" cap="none" strike="noStrike"/>
                        <a:t> 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C.O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N° Pacientes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 u="none" cap="none" strike="noStrike"/>
                        <a:t> 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 u="none" cap="none" strike="noStrike"/>
                        <a:t> 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84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C.C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N° Procedimentos: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42" name="Google Shape;142;p16"/>
          <p:cNvGrpSpPr/>
          <p:nvPr/>
        </p:nvGrpSpPr>
        <p:grpSpPr>
          <a:xfrm>
            <a:off x="6263509" y="-1861"/>
            <a:ext cx="4825095" cy="392683"/>
            <a:chOff x="-36512" y="25400"/>
            <a:chExt cx="32926807" cy="2526650"/>
          </a:xfrm>
        </p:grpSpPr>
        <p:sp>
          <p:nvSpPr>
            <p:cNvPr id="143" name="Google Shape;143;p16"/>
            <p:cNvSpPr/>
            <p:nvPr/>
          </p:nvSpPr>
          <p:spPr>
            <a:xfrm>
              <a:off x="-36512" y="25400"/>
              <a:ext cx="30202188" cy="2097481"/>
            </a:xfrm>
            <a:prstGeom prst="rect">
              <a:avLst/>
            </a:prstGeom>
            <a:solidFill>
              <a:srgbClr val="00206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" name="Google Shape;144;p16"/>
            <p:cNvGrpSpPr/>
            <p:nvPr/>
          </p:nvGrpSpPr>
          <p:grpSpPr>
            <a:xfrm>
              <a:off x="1589" y="351053"/>
              <a:ext cx="16268700" cy="1505129"/>
              <a:chOff x="0" y="73270"/>
              <a:chExt cx="7267451" cy="471908"/>
            </a:xfrm>
          </p:grpSpPr>
          <p:cxnSp>
            <p:nvCxnSpPr>
              <p:cNvPr id="145" name="Google Shape;145;p16"/>
              <p:cNvCxnSpPr/>
              <p:nvPr/>
            </p:nvCxnSpPr>
            <p:spPr>
              <a:xfrm>
                <a:off x="0" y="73270"/>
                <a:ext cx="7260839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4F9ED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6"/>
              <p:cNvCxnSpPr/>
              <p:nvPr/>
            </p:nvCxnSpPr>
            <p:spPr>
              <a:xfrm>
                <a:off x="1592649" y="172666"/>
                <a:ext cx="567480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3667A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16"/>
              <p:cNvCxnSpPr/>
              <p:nvPr/>
            </p:nvCxnSpPr>
            <p:spPr>
              <a:xfrm>
                <a:off x="2156823" y="261566"/>
                <a:ext cx="5110628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D8D95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6"/>
              <p:cNvCxnSpPr/>
              <p:nvPr/>
            </p:nvCxnSpPr>
            <p:spPr>
              <a:xfrm>
                <a:off x="2739877" y="360045"/>
                <a:ext cx="452757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BAD26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p16"/>
              <p:cNvCxnSpPr/>
              <p:nvPr/>
            </p:nvCxnSpPr>
            <p:spPr>
              <a:xfrm>
                <a:off x="3411602" y="452554"/>
                <a:ext cx="3855849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4B15E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p16"/>
              <p:cNvCxnSpPr/>
              <p:nvPr/>
            </p:nvCxnSpPr>
            <p:spPr>
              <a:xfrm>
                <a:off x="3916680" y="545178"/>
                <a:ext cx="3350771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EC806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1" name="Google Shape;151;p16"/>
            <p:cNvSpPr/>
            <p:nvPr/>
          </p:nvSpPr>
          <p:spPr>
            <a:xfrm>
              <a:off x="13259083" y="25400"/>
              <a:ext cx="19631212" cy="11541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pt-BR" sz="101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LEAN NAS EMERGÊNCIAS- Huddle </a:t>
              </a:r>
              <a:endParaRPr b="1" i="1" sz="101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20403735" y="1160065"/>
              <a:ext cx="4158065" cy="86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16663585" y="951612"/>
              <a:ext cx="401954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pt-BR" sz="586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Atualização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pt-BR" sz="586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Hora ínicio e fim </a:t>
              </a:r>
              <a:endParaRPr b="1" i="1" sz="586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Uma imagem com texto, logótipo, emblema, símbolo&#10;&#10;Os conteúdos gerados por IA poderão estar incorretos." id="154" name="Google Shape;15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1549" y="504241"/>
              <a:ext cx="3355264" cy="1472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6"/>
            <p:cNvSpPr/>
            <p:nvPr/>
          </p:nvSpPr>
          <p:spPr>
            <a:xfrm>
              <a:off x="24664162" y="1160065"/>
              <a:ext cx="2684134" cy="86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27433567" y="1160065"/>
              <a:ext cx="2684134" cy="86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57" name="Google Shape;157;p16"/>
          <p:cNvGraphicFramePr/>
          <p:nvPr/>
        </p:nvGraphicFramePr>
        <p:xfrm>
          <a:off x="8371096" y="15212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{8ABE4D7F-E54C-4DFB-84F9-3611D8ACCB83}</a:tableStyleId>
              </a:tblPr>
              <a:tblGrid>
                <a:gridCol w="495525"/>
                <a:gridCol w="516850"/>
              </a:tblGrid>
              <a:tr h="14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400" u="none" cap="none" strike="noStrike">
                          <a:solidFill>
                            <a:schemeClr val="dk1"/>
                          </a:solidFill>
                        </a:rPr>
                        <a:t>CANCELADAS</a:t>
                      </a:r>
                      <a:endParaRPr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rPr b="1" lang="pt-BR" sz="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MOTIVO</a:t>
                      </a:r>
                      <a:endParaRPr/>
                    </a:p>
                  </a:txBody>
                  <a:tcPr marT="6700" marB="6700" marR="13400" marL="13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4F5"/>
                    </a:solidFill>
                  </a:tcPr>
                </a:tc>
              </a:tr>
            </a:tbl>
          </a:graphicData>
        </a:graphic>
      </p:graphicFrame>
      <p:cxnSp>
        <p:nvCxnSpPr>
          <p:cNvPr id="158" name="Google Shape;158;p16"/>
          <p:cNvCxnSpPr/>
          <p:nvPr/>
        </p:nvCxnSpPr>
        <p:spPr>
          <a:xfrm>
            <a:off x="8867184" y="1666589"/>
            <a:ext cx="0" cy="241888"/>
          </a:xfrm>
          <a:prstGeom prst="straightConnector1">
            <a:avLst/>
          </a:prstGeom>
          <a:noFill/>
          <a:ln cap="flat" cmpd="sng" w="9525">
            <a:solidFill>
              <a:srgbClr val="0C233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9" name="Google Shape;159;p16"/>
          <p:cNvGraphicFramePr/>
          <p:nvPr/>
        </p:nvGraphicFramePr>
        <p:xfrm>
          <a:off x="6257927" y="1907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{8ABE4D7F-E54C-4DFB-84F9-3611D8ACCB83}</a:tableStyleId>
              </a:tblPr>
              <a:tblGrid>
                <a:gridCol w="416125"/>
                <a:gridCol w="934575"/>
                <a:gridCol w="463875"/>
                <a:gridCol w="518450"/>
                <a:gridCol w="504800"/>
                <a:gridCol w="1604500"/>
              </a:tblGrid>
              <a:tr h="16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ÁREA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PERGUNTAS 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QUAL?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PREVISÃO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ALERTA ESTOQUE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AÇÃO | RESP. | PRAZO</a:t>
                      </a:r>
                      <a:endParaRPr/>
                    </a:p>
                  </a:txBody>
                  <a:tcPr marT="1400" marB="0" marR="1400" marL="140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29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FARMÁCIA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Itens em falta?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 u="none" cap="none" strike="noStrike"/>
                        <a:t> 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600" u="none" cap="none" strike="noStrike"/>
                        <a:t> 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16"/>
          <p:cNvSpPr/>
          <p:nvPr/>
        </p:nvSpPr>
        <p:spPr>
          <a:xfrm>
            <a:off x="7993597" y="4720585"/>
            <a:ext cx="27071" cy="55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0" lIns="13400" spcFirstLastPara="1" rIns="13400" wrap="square" tIns="6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16"/>
          <p:cNvGraphicFramePr/>
          <p:nvPr/>
        </p:nvGraphicFramePr>
        <p:xfrm>
          <a:off x="6263275" y="327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{8ABE4D7F-E54C-4DFB-84F9-3611D8ACCB83}</a:tableStyleId>
              </a:tblPr>
              <a:tblGrid>
                <a:gridCol w="557125"/>
                <a:gridCol w="852725"/>
                <a:gridCol w="830000"/>
                <a:gridCol w="547900"/>
                <a:gridCol w="547900"/>
                <a:gridCol w="547900"/>
                <a:gridCol w="547900"/>
              </a:tblGrid>
              <a:tr h="134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LINHA DE CUIDADO</a:t>
                      </a:r>
                      <a:endParaRPr/>
                    </a:p>
                  </a:txBody>
                  <a:tcPr marT="1400" marB="0" marR="1400" marL="1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BOARDING HUDDLE  -  MANHÃ </a:t>
                      </a:r>
                      <a:endParaRPr/>
                    </a:p>
                  </a:txBody>
                  <a:tcPr marT="1400" marB="0" marR="1400" marL="1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BOARDING HUDDLE  -  TARDE</a:t>
                      </a:r>
                      <a:endParaRPr b="1" i="0" sz="5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PCP – NÍVEL ROTINA</a:t>
                      </a:r>
                      <a:endParaRPr/>
                    </a:p>
                  </a:txBody>
                  <a:tcPr marT="5125" marB="5125" marR="5125" marL="5125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PCP – NÍVEL 01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500"/>
                        <a:buFont typeface="Arial"/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PCP – NÍVEL 02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500"/>
                        <a:buFont typeface="Arial"/>
                        <a:buNone/>
                      </a:pPr>
                      <a:r>
                        <a:rPr b="1" i="0" lang="pt-BR" sz="5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PCP – NÍVEL 03</a:t>
                      </a:r>
                      <a:endParaRPr/>
                    </a:p>
                  </a:txBody>
                  <a:tcPr marT="1400" marB="0" marR="1400" marL="14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18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PEDIATRIA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C67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18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OBSTETRÍCIA</a:t>
                      </a:r>
                      <a:endParaRPr/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C67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400" marB="0" marR="1400" marL="14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pic>
        <p:nvPicPr>
          <p:cNvPr descr="Linha do tempo&#10;&#10;O conteúdo gerado por IA pode estar incorreto." id="162" name="Google Shape;1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760" y="0"/>
            <a:ext cx="53054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2024-08-05T15:06:04Z</dcterms:created>
  <dc:creator>Paulo Cumino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0x0101005BDCD939CAA2F54B9B463B94E2308002</vt:lpwstr>
  </property>
  <property fmtid="{D5CDD505-2E9C-101B-9397-08002B2CF9AE}" pid="3" name="MediaServiceImageTags">
    <vt:lpwstr/>
  </property>
</Properties>
</file>